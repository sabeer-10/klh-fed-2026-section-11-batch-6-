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30"/>
        </a:solidFill>
        <a:effectLst/>
      </p:bgPr>
    </p:bg>
    <p:spTree>
      <p:nvGrpSpPr>
        <p:cNvPr id="1" name=""/>
        <p:cNvGrpSpPr/>
        <p:nvPr/>
      </p:nvGrpSpPr>
      <p:grpSpPr/>
      <p:sp>
        <p:nvSpPr>
          <p:cNvPr id="2" name="Rectangle 1"/>
          <p:cNvSpPr/>
          <p:nvPr/>
        </p:nvSpPr>
        <p:spPr>
          <a:xfrm>
            <a:off x="594360" y="640080"/>
            <a:ext cx="109728" cy="52120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960120"/>
            <a:ext cx="10515600" cy="1645920"/>
          </a:xfrm>
          <a:prstGeom prst="rect">
            <a:avLst/>
          </a:prstGeom>
          <a:noFill/>
        </p:spPr>
        <p:txBody>
          <a:bodyPr wrap="none">
            <a:spAutoFit/>
          </a:bodyPr>
          <a:lstStyle/>
          <a:p>
            <a:r>
              <a:rPr sz="3800" b="1">
                <a:solidFill>
                  <a:srgbClr val="FFFFFF"/>
                </a:solidFill>
              </a:rPr>
              <a:t>Smart Home Security &amp;
Intruder Detection System</a:t>
            </a:r>
          </a:p>
        </p:txBody>
      </p:sp>
      <p:sp>
        <p:nvSpPr>
          <p:cNvPr id="4" name="TextBox 3"/>
          <p:cNvSpPr txBox="1"/>
          <p:nvPr/>
        </p:nvSpPr>
        <p:spPr>
          <a:xfrm>
            <a:off x="987552" y="2834640"/>
            <a:ext cx="9875520" cy="914400"/>
          </a:xfrm>
          <a:prstGeom prst="rect">
            <a:avLst/>
          </a:prstGeom>
          <a:noFill/>
        </p:spPr>
        <p:txBody>
          <a:bodyPr wrap="none">
            <a:spAutoFit/>
          </a:bodyPr>
          <a:lstStyle/>
          <a:p>
            <a:r>
              <a:rPr sz="2300">
                <a:solidFill>
                  <a:srgbClr val="7DD3FC"/>
                </a:solidFill>
              </a:rPr>
              <a:t>Design &amp; Simulation Using Combinational Logic</a:t>
            </a:r>
          </a:p>
        </p:txBody>
      </p:sp>
      <p:sp>
        <p:nvSpPr>
          <p:cNvPr id="5" name="TextBox 4"/>
          <p:cNvSpPr txBox="1"/>
          <p:nvPr/>
        </p:nvSpPr>
        <p:spPr>
          <a:xfrm>
            <a:off x="987552" y="3886200"/>
            <a:ext cx="9601200" cy="1188720"/>
          </a:xfrm>
          <a:prstGeom prst="rect">
            <a:avLst/>
          </a:prstGeom>
          <a:noFill/>
        </p:spPr>
        <p:txBody>
          <a:bodyPr wrap="none">
            <a:spAutoFit/>
          </a:bodyPr>
          <a:lstStyle/>
          <a:p>
            <a:r>
              <a:rPr sz="1800">
                <a:solidFill>
                  <a:srgbClr val="CBD5E1"/>
                </a:solidFill>
              </a:rPr>
              <a:t>DDCA — Module 2
Combinational Logic • K-Maps • Adders • ALU</a:t>
            </a:r>
          </a:p>
        </p:txBody>
      </p:sp>
      <p:sp>
        <p:nvSpPr>
          <p:cNvPr id="6" name="TextBox 5"/>
          <p:cNvSpPr txBox="1"/>
          <p:nvPr/>
        </p:nvSpPr>
        <p:spPr>
          <a:xfrm>
            <a:off x="10789920" y="6446520"/>
            <a:ext cx="914400" cy="228600"/>
          </a:xfrm>
          <a:prstGeom prst="rect">
            <a:avLst/>
          </a:prstGeom>
          <a:noFill/>
        </p:spPr>
        <p:txBody>
          <a:bodyPr wrap="none">
            <a:spAutoFit/>
          </a:bodyPr>
          <a:lstStyle/>
          <a:p>
            <a:pPr algn="r"/>
            <a:r>
              <a:rPr sz="900">
                <a:solidFill>
                  <a:srgbClr val="64748B"/>
                </a:solidFill>
              </a:rPr>
              <a:t>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30"/>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594360"/>
          </a:xfrm>
          <a:prstGeom prst="rect">
            <a:avLst/>
          </a:prstGeom>
          <a:noFill/>
        </p:spPr>
        <p:txBody>
          <a:bodyPr wrap="none">
            <a:spAutoFit/>
          </a:bodyPr>
          <a:lstStyle/>
          <a:p>
            <a:r>
              <a:rPr sz="2800" b="1">
                <a:solidFill>
                  <a:srgbClr val="FFFFFF"/>
                </a:solidFill>
              </a:rPr>
              <a:t>1. Combinational Logic — The Core Idea</a:t>
            </a:r>
          </a:p>
        </p:txBody>
      </p:sp>
      <p:sp>
        <p:nvSpPr>
          <p:cNvPr id="4" name="TextBox 3"/>
          <p:cNvSpPr txBox="1"/>
          <p:nvPr/>
        </p:nvSpPr>
        <p:spPr>
          <a:xfrm>
            <a:off x="566928" y="932688"/>
            <a:ext cx="10972800" cy="365760"/>
          </a:xfrm>
          <a:prstGeom prst="rect">
            <a:avLst/>
          </a:prstGeom>
          <a:noFill/>
        </p:spPr>
        <p:txBody>
          <a:bodyPr wrap="none">
            <a:spAutoFit/>
          </a:bodyPr>
          <a:lstStyle/>
          <a:p>
            <a:r>
              <a:rPr sz="1200">
                <a:solidFill>
                  <a:srgbClr val="CBD5E1"/>
                </a:solidFill>
              </a:rPr>
              <a:t>Output depends only on the current inputs — there is no memory.</a:t>
            </a:r>
          </a:p>
        </p:txBody>
      </p:sp>
      <p:sp>
        <p:nvSpPr>
          <p:cNvPr id="5" name="Rounded Rectangle 4"/>
          <p:cNvSpPr/>
          <p:nvPr/>
        </p:nvSpPr>
        <p:spPr>
          <a:xfrm>
            <a:off x="640080" y="1508760"/>
            <a:ext cx="3383280" cy="18288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73152" cy="18288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55063"/>
            <a:ext cx="3063240" cy="411480"/>
          </a:xfrm>
          <a:prstGeom prst="rect">
            <a:avLst/>
          </a:prstGeom>
          <a:noFill/>
        </p:spPr>
        <p:txBody>
          <a:bodyPr wrap="none">
            <a:spAutoFit/>
          </a:bodyPr>
          <a:lstStyle/>
          <a:p>
            <a:r>
              <a:rPr sz="1800" b="1">
                <a:solidFill>
                  <a:srgbClr val="0F1B30"/>
                </a:solidFill>
              </a:rPr>
              <a:t>INPUTS</a:t>
            </a:r>
          </a:p>
        </p:txBody>
      </p:sp>
      <p:sp>
        <p:nvSpPr>
          <p:cNvPr id="8" name="TextBox 7"/>
          <p:cNvSpPr txBox="1"/>
          <p:nvPr/>
        </p:nvSpPr>
        <p:spPr>
          <a:xfrm>
            <a:off x="822959" y="2130552"/>
            <a:ext cx="3063240" cy="1097280"/>
          </a:xfrm>
          <a:prstGeom prst="rect">
            <a:avLst/>
          </a:prstGeom>
          <a:noFill/>
        </p:spPr>
        <p:txBody>
          <a:bodyPr wrap="square">
            <a:spAutoFit/>
          </a:bodyPr>
          <a:lstStyle/>
          <a:p>
            <a:r>
              <a:rPr sz="1400">
                <a:solidFill>
                  <a:srgbClr val="1E293B"/>
                </a:solidFill>
              </a:rPr>
              <a:t>Sensors and switches provide binary signals: 0 = inactive, 1 = active.</a:t>
            </a:r>
          </a:p>
        </p:txBody>
      </p:sp>
      <p:sp>
        <p:nvSpPr>
          <p:cNvPr id="9" name="Rounded Rectangle 8"/>
          <p:cNvSpPr/>
          <p:nvPr/>
        </p:nvSpPr>
        <p:spPr>
          <a:xfrm>
            <a:off x="4389120" y="1508760"/>
            <a:ext cx="3383280" cy="18288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508760"/>
            <a:ext cx="73152" cy="1828800"/>
          </a:xfrm>
          <a:prstGeom prst="rect">
            <a:avLst/>
          </a:prstGeom>
          <a:solidFill>
            <a:srgbClr val="23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655063"/>
            <a:ext cx="3063240" cy="411480"/>
          </a:xfrm>
          <a:prstGeom prst="rect">
            <a:avLst/>
          </a:prstGeom>
          <a:noFill/>
        </p:spPr>
        <p:txBody>
          <a:bodyPr wrap="none">
            <a:spAutoFit/>
          </a:bodyPr>
          <a:lstStyle/>
          <a:p>
            <a:r>
              <a:rPr sz="1800" b="1">
                <a:solidFill>
                  <a:srgbClr val="0F1B30"/>
                </a:solidFill>
              </a:rPr>
              <a:t>LOGIC</a:t>
            </a:r>
          </a:p>
        </p:txBody>
      </p:sp>
      <p:sp>
        <p:nvSpPr>
          <p:cNvPr id="12" name="TextBox 11"/>
          <p:cNvSpPr txBox="1"/>
          <p:nvPr/>
        </p:nvSpPr>
        <p:spPr>
          <a:xfrm>
            <a:off x="4572000" y="2130552"/>
            <a:ext cx="3063240" cy="1097280"/>
          </a:xfrm>
          <a:prstGeom prst="rect">
            <a:avLst/>
          </a:prstGeom>
          <a:noFill/>
        </p:spPr>
        <p:txBody>
          <a:bodyPr wrap="square">
            <a:spAutoFit/>
          </a:bodyPr>
          <a:lstStyle/>
          <a:p>
            <a:r>
              <a:rPr sz="1400">
                <a:solidFill>
                  <a:srgbClr val="1E293B"/>
                </a:solidFill>
              </a:rPr>
              <a:t>AND, OR, NOT, XOR and other gates process the current inputs.</a:t>
            </a:r>
          </a:p>
        </p:txBody>
      </p:sp>
      <p:sp>
        <p:nvSpPr>
          <p:cNvPr id="13" name="Rounded Rectangle 12"/>
          <p:cNvSpPr/>
          <p:nvPr/>
        </p:nvSpPr>
        <p:spPr>
          <a:xfrm>
            <a:off x="8138160" y="1508760"/>
            <a:ext cx="3383280" cy="18288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508760"/>
            <a:ext cx="73152" cy="18288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655063"/>
            <a:ext cx="3063240" cy="411480"/>
          </a:xfrm>
          <a:prstGeom prst="rect">
            <a:avLst/>
          </a:prstGeom>
          <a:noFill/>
        </p:spPr>
        <p:txBody>
          <a:bodyPr wrap="none">
            <a:spAutoFit/>
          </a:bodyPr>
          <a:lstStyle/>
          <a:p>
            <a:r>
              <a:rPr sz="1800" b="1">
                <a:solidFill>
                  <a:srgbClr val="0F1B30"/>
                </a:solidFill>
              </a:rPr>
              <a:t>OUTPUT</a:t>
            </a:r>
          </a:p>
        </p:txBody>
      </p:sp>
      <p:sp>
        <p:nvSpPr>
          <p:cNvPr id="16" name="TextBox 15"/>
          <p:cNvSpPr txBox="1"/>
          <p:nvPr/>
        </p:nvSpPr>
        <p:spPr>
          <a:xfrm>
            <a:off x="8321040" y="2130552"/>
            <a:ext cx="3063240" cy="1097280"/>
          </a:xfrm>
          <a:prstGeom prst="rect">
            <a:avLst/>
          </a:prstGeom>
          <a:noFill/>
        </p:spPr>
        <p:txBody>
          <a:bodyPr wrap="square">
            <a:spAutoFit/>
          </a:bodyPr>
          <a:lstStyle/>
          <a:p>
            <a:r>
              <a:rPr sz="1400">
                <a:solidFill>
                  <a:srgbClr val="1E293B"/>
                </a:solidFill>
              </a:rPr>
              <a:t>The system immediately decides: SAFE, ALERT or ALARM.</a:t>
            </a:r>
          </a:p>
        </p:txBody>
      </p:sp>
      <p:sp>
        <p:nvSpPr>
          <p:cNvPr id="17" name="Rounded Rectangle 16"/>
          <p:cNvSpPr/>
          <p:nvPr/>
        </p:nvSpPr>
        <p:spPr>
          <a:xfrm>
            <a:off x="1828800" y="4069080"/>
            <a:ext cx="2103120" cy="68580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Door = 1</a:t>
            </a:r>
          </a:p>
        </p:txBody>
      </p:sp>
      <p:sp>
        <p:nvSpPr>
          <p:cNvPr id="18" name="Rounded Rectangle 17"/>
          <p:cNvSpPr/>
          <p:nvPr/>
        </p:nvSpPr>
        <p:spPr>
          <a:xfrm>
            <a:off x="4617720" y="4069080"/>
            <a:ext cx="2103120" cy="685800"/>
          </a:xfrm>
          <a:prstGeom prst="roundRect">
            <a:avLst/>
          </a:prstGeom>
          <a:solidFill>
            <a:srgbClr val="2363EB"/>
          </a:solidFill>
          <a:ln>
            <a:solidFill>
              <a:srgbClr val="23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Motion = 1</a:t>
            </a:r>
          </a:p>
        </p:txBody>
      </p:sp>
      <p:sp>
        <p:nvSpPr>
          <p:cNvPr id="19" name="Rounded Rectangle 18"/>
          <p:cNvSpPr/>
          <p:nvPr/>
        </p:nvSpPr>
        <p:spPr>
          <a:xfrm>
            <a:off x="7406640" y="4069080"/>
            <a:ext cx="2103120" cy="685800"/>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Alarm = 1</a:t>
            </a:r>
          </a:p>
        </p:txBody>
      </p:sp>
      <p:cxnSp>
        <p:nvCxnSpPr>
          <p:cNvPr id="20" name="Connector 19"/>
          <p:cNvCxnSpPr/>
          <p:nvPr/>
        </p:nvCxnSpPr>
        <p:spPr>
          <a:xfrm>
            <a:off x="3931920" y="4407408"/>
            <a:ext cx="685800"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720840" y="4407408"/>
            <a:ext cx="685800"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828800" y="5166360"/>
            <a:ext cx="8686800" cy="640080"/>
          </a:xfrm>
          <a:prstGeom prst="rect">
            <a:avLst/>
          </a:prstGeom>
          <a:noFill/>
        </p:spPr>
        <p:txBody>
          <a:bodyPr wrap="none">
            <a:spAutoFit/>
          </a:bodyPr>
          <a:lstStyle/>
          <a:p>
            <a:pPr algn="ctr"/>
            <a:r>
              <a:rPr sz="1700" b="1">
                <a:solidFill>
                  <a:srgbClr val="FFFFFF"/>
                </a:solidFill>
              </a:rPr>
              <a:t>Key property: no previous state is stored. Change the inputs → the output can change immediately.</a:t>
            </a:r>
          </a:p>
        </p:txBody>
      </p:sp>
      <p:sp>
        <p:nvSpPr>
          <p:cNvPr id="23" name="TextBox 22"/>
          <p:cNvSpPr txBox="1"/>
          <p:nvPr/>
        </p:nvSpPr>
        <p:spPr>
          <a:xfrm>
            <a:off x="10789920" y="6446520"/>
            <a:ext cx="914400" cy="228600"/>
          </a:xfrm>
          <a:prstGeom prst="rect">
            <a:avLst/>
          </a:prstGeom>
          <a:noFill/>
        </p:spPr>
        <p:txBody>
          <a:bodyPr wrap="none">
            <a:spAutoFit/>
          </a:bodyPr>
          <a:lstStyle/>
          <a:p>
            <a:pPr algn="r"/>
            <a:r>
              <a:rPr sz="900">
                <a:solidFill>
                  <a:srgbClr val="64748B"/>
                </a:solidFill>
              </a:rPr>
              <a:t>2/9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594360"/>
          </a:xfrm>
          <a:prstGeom prst="rect">
            <a:avLst/>
          </a:prstGeom>
          <a:noFill/>
        </p:spPr>
        <p:txBody>
          <a:bodyPr wrap="none">
            <a:spAutoFit/>
          </a:bodyPr>
          <a:lstStyle/>
          <a:p>
            <a:r>
              <a:rPr sz="2800" b="1">
                <a:solidFill>
                  <a:srgbClr val="0F1B30"/>
                </a:solidFill>
              </a:rPr>
              <a:t>2. K-Maps — Simplifying the Logic</a:t>
            </a:r>
          </a:p>
        </p:txBody>
      </p:sp>
      <p:sp>
        <p:nvSpPr>
          <p:cNvPr id="4" name="TextBox 3"/>
          <p:cNvSpPr txBox="1"/>
          <p:nvPr/>
        </p:nvSpPr>
        <p:spPr>
          <a:xfrm>
            <a:off x="566928" y="932688"/>
            <a:ext cx="10972800" cy="365760"/>
          </a:xfrm>
          <a:prstGeom prst="rect">
            <a:avLst/>
          </a:prstGeom>
          <a:noFill/>
        </p:spPr>
        <p:txBody>
          <a:bodyPr wrap="none">
            <a:spAutoFit/>
          </a:bodyPr>
          <a:lstStyle/>
          <a:p>
            <a:r>
              <a:rPr sz="1200">
                <a:solidFill>
                  <a:srgbClr val="64748B"/>
                </a:solidFill>
              </a:rPr>
              <a:t>Fewer gates → simpler, faster, cheaper and lower-power hardware.</a:t>
            </a:r>
          </a:p>
        </p:txBody>
      </p:sp>
      <p:sp>
        <p:nvSpPr>
          <p:cNvPr id="5" name="Rounded Rectangle 4"/>
          <p:cNvSpPr/>
          <p:nvPr/>
        </p:nvSpPr>
        <p:spPr>
          <a:xfrm>
            <a:off x="640080" y="1417320"/>
            <a:ext cx="3429000" cy="16459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3152" cy="1645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563624"/>
            <a:ext cx="3108960" cy="411480"/>
          </a:xfrm>
          <a:prstGeom prst="rect">
            <a:avLst/>
          </a:prstGeom>
          <a:noFill/>
        </p:spPr>
        <p:txBody>
          <a:bodyPr wrap="none">
            <a:spAutoFit/>
          </a:bodyPr>
          <a:lstStyle/>
          <a:p>
            <a:r>
              <a:rPr sz="1700" b="1">
                <a:solidFill>
                  <a:srgbClr val="0F1B30"/>
                </a:solidFill>
              </a:rPr>
              <a:t>Why simplify?</a:t>
            </a:r>
          </a:p>
        </p:txBody>
      </p:sp>
      <p:sp>
        <p:nvSpPr>
          <p:cNvPr id="8" name="TextBox 7"/>
          <p:cNvSpPr txBox="1"/>
          <p:nvPr/>
        </p:nvSpPr>
        <p:spPr>
          <a:xfrm>
            <a:off x="822959" y="2039112"/>
            <a:ext cx="3108960" cy="914400"/>
          </a:xfrm>
          <a:prstGeom prst="rect">
            <a:avLst/>
          </a:prstGeom>
          <a:noFill/>
        </p:spPr>
        <p:txBody>
          <a:bodyPr wrap="square">
            <a:spAutoFit/>
          </a:bodyPr>
          <a:lstStyle/>
          <a:p>
            <a:r>
              <a:rPr sz="1300">
                <a:solidFill>
                  <a:srgbClr val="1E293B"/>
                </a:solidFill>
              </a:rPr>
              <a:t>Reduce the number of gates and connections while keeping the same required output.</a:t>
            </a:r>
          </a:p>
        </p:txBody>
      </p:sp>
      <p:sp>
        <p:nvSpPr>
          <p:cNvPr id="9" name="Rounded Rectangle 8"/>
          <p:cNvSpPr/>
          <p:nvPr/>
        </p:nvSpPr>
        <p:spPr>
          <a:xfrm>
            <a:off x="640080" y="3337560"/>
            <a:ext cx="3429000" cy="20116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337560"/>
            <a:ext cx="73152" cy="2011680"/>
          </a:xfrm>
          <a:prstGeom prst="rect">
            <a:avLst/>
          </a:prstGeom>
          <a:solidFill>
            <a:srgbClr val="23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3483864"/>
            <a:ext cx="3108960" cy="411480"/>
          </a:xfrm>
          <a:prstGeom prst="rect">
            <a:avLst/>
          </a:prstGeom>
          <a:noFill/>
        </p:spPr>
        <p:txBody>
          <a:bodyPr wrap="none">
            <a:spAutoFit/>
          </a:bodyPr>
          <a:lstStyle/>
          <a:p>
            <a:r>
              <a:rPr sz="1700" b="1">
                <a:solidFill>
                  <a:srgbClr val="0F1B30"/>
                </a:solidFill>
              </a:rPr>
              <a:t>K-Map method</a:t>
            </a:r>
          </a:p>
        </p:txBody>
      </p:sp>
      <p:sp>
        <p:nvSpPr>
          <p:cNvPr id="12" name="TextBox 11"/>
          <p:cNvSpPr txBox="1"/>
          <p:nvPr/>
        </p:nvSpPr>
        <p:spPr>
          <a:xfrm>
            <a:off x="822959" y="3959352"/>
            <a:ext cx="3108960" cy="1280160"/>
          </a:xfrm>
          <a:prstGeom prst="rect">
            <a:avLst/>
          </a:prstGeom>
          <a:noFill/>
        </p:spPr>
        <p:txBody>
          <a:bodyPr wrap="square">
            <a:spAutoFit/>
          </a:bodyPr>
          <a:lstStyle/>
          <a:p>
            <a:r>
              <a:rPr sz="1300">
                <a:solidFill>
                  <a:srgbClr val="1E293B"/>
                </a:solidFill>
              </a:rPr>
              <a:t>1. Build the truth table
2. Place 1s in the K-map
3. Group adjacent 1s in powers of 2
4. Write the simplified Boolean expression</a:t>
            </a:r>
          </a:p>
        </p:txBody>
      </p:sp>
      <p:sp>
        <p:nvSpPr>
          <p:cNvPr id="13" name="Rounded Rectangle 12"/>
          <p:cNvSpPr/>
          <p:nvPr/>
        </p:nvSpPr>
        <p:spPr>
          <a:xfrm>
            <a:off x="4389120" y="1417320"/>
            <a:ext cx="7132320" cy="16459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417320"/>
            <a:ext cx="73152" cy="1645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563624"/>
            <a:ext cx="6812280" cy="411480"/>
          </a:xfrm>
          <a:prstGeom prst="rect">
            <a:avLst/>
          </a:prstGeom>
          <a:noFill/>
        </p:spPr>
        <p:txBody>
          <a:bodyPr wrap="none">
            <a:spAutoFit/>
          </a:bodyPr>
          <a:lstStyle/>
          <a:p>
            <a:r>
              <a:rPr sz="1700" b="1">
                <a:solidFill>
                  <a:srgbClr val="0F1B30"/>
                </a:solidFill>
              </a:rPr>
              <a:t>Worked example</a:t>
            </a:r>
          </a:p>
        </p:txBody>
      </p:sp>
      <p:sp>
        <p:nvSpPr>
          <p:cNvPr id="16" name="TextBox 15"/>
          <p:cNvSpPr txBox="1"/>
          <p:nvPr/>
        </p:nvSpPr>
        <p:spPr>
          <a:xfrm>
            <a:off x="4572000" y="2039112"/>
            <a:ext cx="6812280" cy="914400"/>
          </a:xfrm>
          <a:prstGeom prst="rect">
            <a:avLst/>
          </a:prstGeom>
          <a:noFill/>
        </p:spPr>
        <p:txBody>
          <a:bodyPr wrap="square">
            <a:spAutoFit/>
          </a:bodyPr>
          <a:lstStyle/>
          <a:p>
            <a:r>
              <a:rPr sz="1400">
                <a:solidFill>
                  <a:srgbClr val="1E293B"/>
                </a:solidFill>
              </a:rPr>
              <a:t>Suppose Alarm = Door·Motion + Window·Motion. Factor Motion: Alarm = Motion(Door + Window).</a:t>
            </a:r>
          </a:p>
        </p:txBody>
      </p:sp>
      <p:sp>
        <p:nvSpPr>
          <p:cNvPr id="17" name="Rounded Rectangle 16"/>
          <p:cNvSpPr/>
          <p:nvPr/>
        </p:nvSpPr>
        <p:spPr>
          <a:xfrm>
            <a:off x="4572000" y="3429000"/>
            <a:ext cx="1828800" cy="731520"/>
          </a:xfrm>
          <a:prstGeom prst="roundRect">
            <a:avLst/>
          </a:prstGeom>
          <a:solidFill>
            <a:srgbClr val="2363EB"/>
          </a:solidFill>
          <a:ln>
            <a:solidFill>
              <a:srgbClr val="23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D · M</a:t>
            </a:r>
          </a:p>
        </p:txBody>
      </p:sp>
      <p:sp>
        <p:nvSpPr>
          <p:cNvPr id="18" name="Rounded Rectangle 17"/>
          <p:cNvSpPr/>
          <p:nvPr/>
        </p:nvSpPr>
        <p:spPr>
          <a:xfrm>
            <a:off x="7315200" y="3429000"/>
            <a:ext cx="1828800" cy="731520"/>
          </a:xfrm>
          <a:prstGeom prst="roundRect">
            <a:avLst/>
          </a:prstGeom>
          <a:solidFill>
            <a:srgbClr val="2363EB"/>
          </a:solidFill>
          <a:ln>
            <a:solidFill>
              <a:srgbClr val="23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W · M</a:t>
            </a:r>
          </a:p>
        </p:txBody>
      </p:sp>
      <p:sp>
        <p:nvSpPr>
          <p:cNvPr id="19" name="Rounded Rectangle 18"/>
          <p:cNvSpPr/>
          <p:nvPr/>
        </p:nvSpPr>
        <p:spPr>
          <a:xfrm>
            <a:off x="10058400" y="3429000"/>
            <a:ext cx="1097280" cy="731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rPr>
              <a:t>OR</a:t>
            </a:r>
          </a:p>
        </p:txBody>
      </p:sp>
      <p:sp>
        <p:nvSpPr>
          <p:cNvPr id="20" name="TextBox 19"/>
          <p:cNvSpPr txBox="1"/>
          <p:nvPr/>
        </p:nvSpPr>
        <p:spPr>
          <a:xfrm>
            <a:off x="4572000" y="4434840"/>
            <a:ext cx="6766560" cy="1005840"/>
          </a:xfrm>
          <a:prstGeom prst="rect">
            <a:avLst/>
          </a:prstGeom>
          <a:noFill/>
        </p:spPr>
        <p:txBody>
          <a:bodyPr wrap="none">
            <a:spAutoFit/>
          </a:bodyPr>
          <a:lstStyle/>
          <a:p>
            <a:pPr algn="ctr"/>
            <a:r>
              <a:rPr sz="1800" b="1">
                <a:solidFill>
                  <a:srgbClr val="1E293B"/>
                </a:solidFill>
              </a:rPr>
              <a:t>Simplified form:  M(D + W)
This can reduce the gate count and wiring.</a:t>
            </a:r>
          </a:p>
        </p:txBody>
      </p:sp>
      <p:sp>
        <p:nvSpPr>
          <p:cNvPr id="21" name="TextBox 20"/>
          <p:cNvSpPr txBox="1"/>
          <p:nvPr/>
        </p:nvSpPr>
        <p:spPr>
          <a:xfrm>
            <a:off x="10789920" y="6446520"/>
            <a:ext cx="914400" cy="228600"/>
          </a:xfrm>
          <a:prstGeom prst="rect">
            <a:avLst/>
          </a:prstGeom>
          <a:noFill/>
        </p:spPr>
        <p:txBody>
          <a:bodyPr wrap="none">
            <a:spAutoFit/>
          </a:bodyPr>
          <a:lstStyle/>
          <a:p>
            <a:pPr algn="r"/>
            <a:r>
              <a:rPr sz="900">
                <a:solidFill>
                  <a:srgbClr val="64748B"/>
                </a:solidFill>
              </a:rPr>
              <a:t>3/9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594360"/>
          </a:xfrm>
          <a:prstGeom prst="rect">
            <a:avLst/>
          </a:prstGeom>
          <a:noFill/>
        </p:spPr>
        <p:txBody>
          <a:bodyPr wrap="none">
            <a:spAutoFit/>
          </a:bodyPr>
          <a:lstStyle/>
          <a:p>
            <a:r>
              <a:rPr sz="2800" b="1">
                <a:solidFill>
                  <a:srgbClr val="0F1B30"/>
                </a:solidFill>
              </a:rPr>
              <a:t>3. Security System Inputs &amp; Truth-Table Logic</a:t>
            </a:r>
          </a:p>
        </p:txBody>
      </p:sp>
      <p:sp>
        <p:nvSpPr>
          <p:cNvPr id="4" name="TextBox 3"/>
          <p:cNvSpPr txBox="1"/>
          <p:nvPr/>
        </p:nvSpPr>
        <p:spPr>
          <a:xfrm>
            <a:off x="566928" y="932688"/>
            <a:ext cx="10972800" cy="365760"/>
          </a:xfrm>
          <a:prstGeom prst="rect">
            <a:avLst/>
          </a:prstGeom>
          <a:noFill/>
        </p:spPr>
        <p:txBody>
          <a:bodyPr wrap="none">
            <a:spAutoFit/>
          </a:bodyPr>
          <a:lstStyle/>
          <a:p>
            <a:r>
              <a:rPr sz="1200">
                <a:solidFill>
                  <a:srgbClr val="64748B"/>
                </a:solidFill>
              </a:rPr>
              <a:t>Convert real security conditions into binary variables.</a:t>
            </a:r>
          </a:p>
        </p:txBody>
      </p:sp>
      <p:sp>
        <p:nvSpPr>
          <p:cNvPr id="5" name="Rounded Rectangle 4"/>
          <p:cNvSpPr/>
          <p:nvPr/>
        </p:nvSpPr>
        <p:spPr>
          <a:xfrm>
            <a:off x="640080" y="1417320"/>
            <a:ext cx="2468880" cy="14173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3152" cy="14173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563624"/>
            <a:ext cx="2148840" cy="411480"/>
          </a:xfrm>
          <a:prstGeom prst="rect">
            <a:avLst/>
          </a:prstGeom>
          <a:noFill/>
        </p:spPr>
        <p:txBody>
          <a:bodyPr wrap="none">
            <a:spAutoFit/>
          </a:bodyPr>
          <a:lstStyle/>
          <a:p>
            <a:r>
              <a:rPr sz="1600" b="1">
                <a:solidFill>
                  <a:srgbClr val="0F1B30"/>
                </a:solidFill>
              </a:rPr>
              <a:t>D — Door</a:t>
            </a:r>
          </a:p>
        </p:txBody>
      </p:sp>
      <p:sp>
        <p:nvSpPr>
          <p:cNvPr id="8" name="TextBox 7"/>
          <p:cNvSpPr txBox="1"/>
          <p:nvPr/>
        </p:nvSpPr>
        <p:spPr>
          <a:xfrm>
            <a:off x="822959" y="2039112"/>
            <a:ext cx="2148840" cy="685800"/>
          </a:xfrm>
          <a:prstGeom prst="rect">
            <a:avLst/>
          </a:prstGeom>
          <a:noFill/>
        </p:spPr>
        <p:txBody>
          <a:bodyPr wrap="square">
            <a:spAutoFit/>
          </a:bodyPr>
          <a:lstStyle/>
          <a:p>
            <a:r>
              <a:rPr sz="1300">
                <a:solidFill>
                  <a:srgbClr val="1E293B"/>
                </a:solidFill>
              </a:rPr>
              <a:t>1 = door open
0 = closed</a:t>
            </a:r>
          </a:p>
        </p:txBody>
      </p:sp>
      <p:sp>
        <p:nvSpPr>
          <p:cNvPr id="9" name="Rounded Rectangle 8"/>
          <p:cNvSpPr/>
          <p:nvPr/>
        </p:nvSpPr>
        <p:spPr>
          <a:xfrm>
            <a:off x="3337560" y="1417320"/>
            <a:ext cx="2468880" cy="14173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37560" y="1417320"/>
            <a:ext cx="73152" cy="1417320"/>
          </a:xfrm>
          <a:prstGeom prst="rect">
            <a:avLst/>
          </a:prstGeom>
          <a:solidFill>
            <a:srgbClr val="23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1563624"/>
            <a:ext cx="2148840" cy="411480"/>
          </a:xfrm>
          <a:prstGeom prst="rect">
            <a:avLst/>
          </a:prstGeom>
          <a:noFill/>
        </p:spPr>
        <p:txBody>
          <a:bodyPr wrap="none">
            <a:spAutoFit/>
          </a:bodyPr>
          <a:lstStyle/>
          <a:p>
            <a:r>
              <a:rPr sz="1600" b="1">
                <a:solidFill>
                  <a:srgbClr val="0F1B30"/>
                </a:solidFill>
              </a:rPr>
              <a:t>W — Window</a:t>
            </a:r>
          </a:p>
        </p:txBody>
      </p:sp>
      <p:sp>
        <p:nvSpPr>
          <p:cNvPr id="12" name="TextBox 11"/>
          <p:cNvSpPr txBox="1"/>
          <p:nvPr/>
        </p:nvSpPr>
        <p:spPr>
          <a:xfrm>
            <a:off x="3520440" y="2039112"/>
            <a:ext cx="2148840" cy="685800"/>
          </a:xfrm>
          <a:prstGeom prst="rect">
            <a:avLst/>
          </a:prstGeom>
          <a:noFill/>
        </p:spPr>
        <p:txBody>
          <a:bodyPr wrap="square">
            <a:spAutoFit/>
          </a:bodyPr>
          <a:lstStyle/>
          <a:p>
            <a:r>
              <a:rPr sz="1300">
                <a:solidFill>
                  <a:srgbClr val="1E293B"/>
                </a:solidFill>
              </a:rPr>
              <a:t>1 = window open
0 = closed</a:t>
            </a:r>
          </a:p>
        </p:txBody>
      </p:sp>
      <p:sp>
        <p:nvSpPr>
          <p:cNvPr id="13" name="Rounded Rectangle 12"/>
          <p:cNvSpPr/>
          <p:nvPr/>
        </p:nvSpPr>
        <p:spPr>
          <a:xfrm>
            <a:off x="6035040" y="1417320"/>
            <a:ext cx="2468880" cy="14173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35040" y="1417320"/>
            <a:ext cx="73152"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1563624"/>
            <a:ext cx="2148840" cy="411480"/>
          </a:xfrm>
          <a:prstGeom prst="rect">
            <a:avLst/>
          </a:prstGeom>
          <a:noFill/>
        </p:spPr>
        <p:txBody>
          <a:bodyPr wrap="none">
            <a:spAutoFit/>
          </a:bodyPr>
          <a:lstStyle/>
          <a:p>
            <a:r>
              <a:rPr sz="1600" b="1">
                <a:solidFill>
                  <a:srgbClr val="0F1B30"/>
                </a:solidFill>
              </a:rPr>
              <a:t>M — Motion</a:t>
            </a:r>
          </a:p>
        </p:txBody>
      </p:sp>
      <p:sp>
        <p:nvSpPr>
          <p:cNvPr id="16" name="TextBox 15"/>
          <p:cNvSpPr txBox="1"/>
          <p:nvPr/>
        </p:nvSpPr>
        <p:spPr>
          <a:xfrm>
            <a:off x="6217920" y="2039112"/>
            <a:ext cx="2148840" cy="685800"/>
          </a:xfrm>
          <a:prstGeom prst="rect">
            <a:avLst/>
          </a:prstGeom>
          <a:noFill/>
        </p:spPr>
        <p:txBody>
          <a:bodyPr wrap="square">
            <a:spAutoFit/>
          </a:bodyPr>
          <a:lstStyle/>
          <a:p>
            <a:r>
              <a:rPr sz="1300">
                <a:solidFill>
                  <a:srgbClr val="1E293B"/>
                </a:solidFill>
              </a:rPr>
              <a:t>1 = motion detected
0 = none</a:t>
            </a:r>
          </a:p>
        </p:txBody>
      </p:sp>
      <p:sp>
        <p:nvSpPr>
          <p:cNvPr id="17" name="Rounded Rectangle 16"/>
          <p:cNvSpPr/>
          <p:nvPr/>
        </p:nvSpPr>
        <p:spPr>
          <a:xfrm>
            <a:off x="8732520" y="1417320"/>
            <a:ext cx="2468880" cy="14173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732520" y="1417320"/>
            <a:ext cx="73152" cy="1417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15400" y="1563624"/>
            <a:ext cx="2148840" cy="411480"/>
          </a:xfrm>
          <a:prstGeom prst="rect">
            <a:avLst/>
          </a:prstGeom>
          <a:noFill/>
        </p:spPr>
        <p:txBody>
          <a:bodyPr wrap="none">
            <a:spAutoFit/>
          </a:bodyPr>
          <a:lstStyle/>
          <a:p>
            <a:r>
              <a:rPr sz="1600" b="1">
                <a:solidFill>
                  <a:srgbClr val="0F1B30"/>
                </a:solidFill>
              </a:rPr>
              <a:t>A — Armed</a:t>
            </a:r>
          </a:p>
        </p:txBody>
      </p:sp>
      <p:sp>
        <p:nvSpPr>
          <p:cNvPr id="20" name="TextBox 19"/>
          <p:cNvSpPr txBox="1"/>
          <p:nvPr/>
        </p:nvSpPr>
        <p:spPr>
          <a:xfrm>
            <a:off x="8915400" y="2039112"/>
            <a:ext cx="2148840" cy="685800"/>
          </a:xfrm>
          <a:prstGeom prst="rect">
            <a:avLst/>
          </a:prstGeom>
          <a:noFill/>
        </p:spPr>
        <p:txBody>
          <a:bodyPr wrap="square">
            <a:spAutoFit/>
          </a:bodyPr>
          <a:lstStyle/>
          <a:p>
            <a:r>
              <a:rPr sz="1300">
                <a:solidFill>
                  <a:srgbClr val="1E293B"/>
                </a:solidFill>
              </a:rPr>
              <a:t>1 = system armed
0 = disarmed</a:t>
            </a:r>
          </a:p>
        </p:txBody>
      </p:sp>
      <p:sp>
        <p:nvSpPr>
          <p:cNvPr id="21" name="Rounded Rectangle 20"/>
          <p:cNvSpPr/>
          <p:nvPr/>
        </p:nvSpPr>
        <p:spPr>
          <a:xfrm>
            <a:off x="1097280" y="3429000"/>
            <a:ext cx="2743200" cy="731520"/>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Intrusion = D + W</a:t>
            </a:r>
          </a:p>
        </p:txBody>
      </p:sp>
      <p:sp>
        <p:nvSpPr>
          <p:cNvPr id="22" name="Rounded Rectangle 21"/>
          <p:cNvSpPr/>
          <p:nvPr/>
        </p:nvSpPr>
        <p:spPr>
          <a:xfrm>
            <a:off x="4709160" y="3429000"/>
            <a:ext cx="2743200" cy="731520"/>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ALARM = A·(D+W+M)</a:t>
            </a:r>
          </a:p>
        </p:txBody>
      </p:sp>
      <p:sp>
        <p:nvSpPr>
          <p:cNvPr id="23" name="Rounded Rectangle 22"/>
          <p:cNvSpPr/>
          <p:nvPr/>
        </p:nvSpPr>
        <p:spPr>
          <a:xfrm>
            <a:off x="8321040" y="3429000"/>
            <a:ext cx="1828800" cy="731520"/>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rPr>
              <a:t>Buzzer</a:t>
            </a:r>
          </a:p>
        </p:txBody>
      </p:sp>
      <p:sp>
        <p:nvSpPr>
          <p:cNvPr id="24" name="TextBox 23"/>
          <p:cNvSpPr txBox="1"/>
          <p:nvPr/>
        </p:nvSpPr>
        <p:spPr>
          <a:xfrm>
            <a:off x="914400" y="4572000"/>
            <a:ext cx="10058400" cy="1005840"/>
          </a:xfrm>
          <a:prstGeom prst="rect">
            <a:avLst/>
          </a:prstGeom>
          <a:noFill/>
        </p:spPr>
        <p:txBody>
          <a:bodyPr wrap="none">
            <a:spAutoFit/>
          </a:bodyPr>
          <a:lstStyle/>
          <a:p>
            <a:r>
              <a:rPr sz="1800" b="1">
                <a:solidFill>
                  <a:srgbClr val="1E293B"/>
                </a:solidFill>
              </a:rPr>
              <a:t>Example: if the system is armed (A=1) and either the door, window, or motion sensor is active, the alarm output becomes 1.</a:t>
            </a:r>
          </a:p>
        </p:txBody>
      </p:sp>
      <p:sp>
        <p:nvSpPr>
          <p:cNvPr id="25" name="TextBox 24"/>
          <p:cNvSpPr txBox="1"/>
          <p:nvPr/>
        </p:nvSpPr>
        <p:spPr>
          <a:xfrm>
            <a:off x="10789920" y="6446520"/>
            <a:ext cx="914400" cy="228600"/>
          </a:xfrm>
          <a:prstGeom prst="rect">
            <a:avLst/>
          </a:prstGeom>
          <a:noFill/>
        </p:spPr>
        <p:txBody>
          <a:bodyPr wrap="none">
            <a:spAutoFit/>
          </a:bodyPr>
          <a:lstStyle/>
          <a:p>
            <a:pPr algn="r"/>
            <a:r>
              <a:rPr sz="900">
                <a:solidFill>
                  <a:srgbClr val="64748B"/>
                </a:solidFill>
              </a:rPr>
              <a:t>4/9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594360"/>
          </a:xfrm>
          <a:prstGeom prst="rect">
            <a:avLst/>
          </a:prstGeom>
          <a:noFill/>
        </p:spPr>
        <p:txBody>
          <a:bodyPr wrap="none">
            <a:spAutoFit/>
          </a:bodyPr>
          <a:lstStyle/>
          <a:p>
            <a:r>
              <a:rPr sz="2800" b="1">
                <a:solidFill>
                  <a:srgbClr val="0F1B30"/>
                </a:solidFill>
              </a:rPr>
              <a:t>4. Half Adder &amp; Full Adder</a:t>
            </a:r>
          </a:p>
        </p:txBody>
      </p:sp>
      <p:sp>
        <p:nvSpPr>
          <p:cNvPr id="4" name="TextBox 3"/>
          <p:cNvSpPr txBox="1"/>
          <p:nvPr/>
        </p:nvSpPr>
        <p:spPr>
          <a:xfrm>
            <a:off x="566928" y="932688"/>
            <a:ext cx="10972800" cy="365760"/>
          </a:xfrm>
          <a:prstGeom prst="rect">
            <a:avLst/>
          </a:prstGeom>
          <a:noFill/>
        </p:spPr>
        <p:txBody>
          <a:bodyPr wrap="none">
            <a:spAutoFit/>
          </a:bodyPr>
          <a:lstStyle/>
          <a:p>
            <a:r>
              <a:rPr sz="1200">
                <a:solidFill>
                  <a:srgbClr val="64748B"/>
                </a:solidFill>
              </a:rPr>
              <a:t>Arithmetic circuits show how combinational logic can perform binary addition.</a:t>
            </a:r>
          </a:p>
        </p:txBody>
      </p:sp>
      <p:sp>
        <p:nvSpPr>
          <p:cNvPr id="5" name="Rounded Rectangle 4"/>
          <p:cNvSpPr/>
          <p:nvPr/>
        </p:nvSpPr>
        <p:spPr>
          <a:xfrm>
            <a:off x="640080" y="1371600"/>
            <a:ext cx="5212080" cy="18288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71600"/>
            <a:ext cx="73152" cy="18288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517904"/>
            <a:ext cx="4892040" cy="411480"/>
          </a:xfrm>
          <a:prstGeom prst="rect">
            <a:avLst/>
          </a:prstGeom>
          <a:noFill/>
        </p:spPr>
        <p:txBody>
          <a:bodyPr wrap="none">
            <a:spAutoFit/>
          </a:bodyPr>
          <a:lstStyle/>
          <a:p>
            <a:r>
              <a:rPr sz="1800" b="1">
                <a:solidFill>
                  <a:srgbClr val="0F1B30"/>
                </a:solidFill>
              </a:rPr>
              <a:t>Half Adder</a:t>
            </a:r>
          </a:p>
        </p:txBody>
      </p:sp>
      <p:sp>
        <p:nvSpPr>
          <p:cNvPr id="8" name="TextBox 7"/>
          <p:cNvSpPr txBox="1"/>
          <p:nvPr/>
        </p:nvSpPr>
        <p:spPr>
          <a:xfrm>
            <a:off x="822959" y="1993392"/>
            <a:ext cx="4892040" cy="1097280"/>
          </a:xfrm>
          <a:prstGeom prst="rect">
            <a:avLst/>
          </a:prstGeom>
          <a:noFill/>
        </p:spPr>
        <p:txBody>
          <a:bodyPr wrap="square">
            <a:spAutoFit/>
          </a:bodyPr>
          <a:lstStyle/>
          <a:p>
            <a:r>
              <a:rPr sz="1500">
                <a:solidFill>
                  <a:srgbClr val="1E293B"/>
                </a:solidFill>
              </a:rPr>
              <a:t>Inputs: A, B
Sum = A XOR B
Carry = A AND B
Used for adding two single-bit numbers.</a:t>
            </a:r>
          </a:p>
        </p:txBody>
      </p:sp>
      <p:sp>
        <p:nvSpPr>
          <p:cNvPr id="9" name="Rounded Rectangle 8"/>
          <p:cNvSpPr/>
          <p:nvPr/>
        </p:nvSpPr>
        <p:spPr>
          <a:xfrm>
            <a:off x="6080760" y="1371600"/>
            <a:ext cx="5212080" cy="18288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80760" y="1371600"/>
            <a:ext cx="73152" cy="1828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517904"/>
            <a:ext cx="4892040" cy="411480"/>
          </a:xfrm>
          <a:prstGeom prst="rect">
            <a:avLst/>
          </a:prstGeom>
          <a:noFill/>
        </p:spPr>
        <p:txBody>
          <a:bodyPr wrap="none">
            <a:spAutoFit/>
          </a:bodyPr>
          <a:lstStyle/>
          <a:p>
            <a:r>
              <a:rPr sz="1800" b="1">
                <a:solidFill>
                  <a:srgbClr val="0F1B30"/>
                </a:solidFill>
              </a:rPr>
              <a:t>Full Adder</a:t>
            </a:r>
          </a:p>
        </p:txBody>
      </p:sp>
      <p:sp>
        <p:nvSpPr>
          <p:cNvPr id="12" name="TextBox 11"/>
          <p:cNvSpPr txBox="1"/>
          <p:nvPr/>
        </p:nvSpPr>
        <p:spPr>
          <a:xfrm>
            <a:off x="6263640" y="1993392"/>
            <a:ext cx="4892040" cy="1097280"/>
          </a:xfrm>
          <a:prstGeom prst="rect">
            <a:avLst/>
          </a:prstGeom>
          <a:noFill/>
        </p:spPr>
        <p:txBody>
          <a:bodyPr wrap="square">
            <a:spAutoFit/>
          </a:bodyPr>
          <a:lstStyle/>
          <a:p>
            <a:r>
              <a:rPr sz="1400">
                <a:solidFill>
                  <a:srgbClr val="1E293B"/>
                </a:solidFill>
              </a:rPr>
              <a:t>Inputs: A, B, Cin
Sum = A XOR B XOR Cin
Cout = AB + Cin(A XOR B)
Handles an incoming carry.</a:t>
            </a:r>
          </a:p>
        </p:txBody>
      </p:sp>
      <p:sp>
        <p:nvSpPr>
          <p:cNvPr id="13" name="Rectangle 12"/>
          <p:cNvSpPr/>
          <p:nvPr/>
        </p:nvSpPr>
        <p:spPr>
          <a:xfrm>
            <a:off x="1828800" y="3794760"/>
            <a:ext cx="731520" cy="393192"/>
          </a:xfrm>
          <a:prstGeom prst="rect">
            <a:avLst/>
          </a:prstGeom>
          <a:solidFill>
            <a:srgbClr val="2363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A</a:t>
            </a:r>
          </a:p>
        </p:txBody>
      </p:sp>
      <p:sp>
        <p:nvSpPr>
          <p:cNvPr id="14" name="Rectangle 13"/>
          <p:cNvSpPr/>
          <p:nvPr/>
        </p:nvSpPr>
        <p:spPr>
          <a:xfrm>
            <a:off x="2560320" y="3794760"/>
            <a:ext cx="731520" cy="393192"/>
          </a:xfrm>
          <a:prstGeom prst="rect">
            <a:avLst/>
          </a:prstGeom>
          <a:solidFill>
            <a:srgbClr val="2363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B</a:t>
            </a:r>
          </a:p>
        </p:txBody>
      </p:sp>
      <p:sp>
        <p:nvSpPr>
          <p:cNvPr id="15" name="Rectangle 14"/>
          <p:cNvSpPr/>
          <p:nvPr/>
        </p:nvSpPr>
        <p:spPr>
          <a:xfrm>
            <a:off x="3291839" y="3794760"/>
            <a:ext cx="822960" cy="393192"/>
          </a:xfrm>
          <a:prstGeom prst="rect">
            <a:avLst/>
          </a:prstGeom>
          <a:solidFill>
            <a:srgbClr val="2363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Cin</a:t>
            </a:r>
          </a:p>
        </p:txBody>
      </p:sp>
      <p:sp>
        <p:nvSpPr>
          <p:cNvPr id="16" name="Rectangle 15"/>
          <p:cNvSpPr/>
          <p:nvPr/>
        </p:nvSpPr>
        <p:spPr>
          <a:xfrm>
            <a:off x="4114800" y="3794760"/>
            <a:ext cx="822960" cy="393192"/>
          </a:xfrm>
          <a:prstGeom prst="rect">
            <a:avLst/>
          </a:prstGeom>
          <a:solidFill>
            <a:srgbClr val="2363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Sum</a:t>
            </a:r>
          </a:p>
        </p:txBody>
      </p:sp>
      <p:sp>
        <p:nvSpPr>
          <p:cNvPr id="17" name="Rectangle 16"/>
          <p:cNvSpPr/>
          <p:nvPr/>
        </p:nvSpPr>
        <p:spPr>
          <a:xfrm>
            <a:off x="4937760" y="3794760"/>
            <a:ext cx="914400" cy="393192"/>
          </a:xfrm>
          <a:prstGeom prst="rect">
            <a:avLst/>
          </a:prstGeom>
          <a:solidFill>
            <a:srgbClr val="2363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Cout</a:t>
            </a:r>
          </a:p>
        </p:txBody>
      </p:sp>
      <p:sp>
        <p:nvSpPr>
          <p:cNvPr id="18" name="Rectangle 17"/>
          <p:cNvSpPr/>
          <p:nvPr/>
        </p:nvSpPr>
        <p:spPr>
          <a:xfrm>
            <a:off x="1828800" y="4187952"/>
            <a:ext cx="73152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0</a:t>
            </a:r>
          </a:p>
        </p:txBody>
      </p:sp>
      <p:sp>
        <p:nvSpPr>
          <p:cNvPr id="19" name="Rectangle 18"/>
          <p:cNvSpPr/>
          <p:nvPr/>
        </p:nvSpPr>
        <p:spPr>
          <a:xfrm>
            <a:off x="2560320" y="4187952"/>
            <a:ext cx="73152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0</a:t>
            </a:r>
          </a:p>
        </p:txBody>
      </p:sp>
      <p:sp>
        <p:nvSpPr>
          <p:cNvPr id="20" name="Rectangle 19"/>
          <p:cNvSpPr/>
          <p:nvPr/>
        </p:nvSpPr>
        <p:spPr>
          <a:xfrm>
            <a:off x="3291839" y="4187952"/>
            <a:ext cx="82296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0</a:t>
            </a:r>
          </a:p>
        </p:txBody>
      </p:sp>
      <p:sp>
        <p:nvSpPr>
          <p:cNvPr id="21" name="Rectangle 20"/>
          <p:cNvSpPr/>
          <p:nvPr/>
        </p:nvSpPr>
        <p:spPr>
          <a:xfrm>
            <a:off x="4114800" y="4187952"/>
            <a:ext cx="82296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0</a:t>
            </a:r>
          </a:p>
        </p:txBody>
      </p:sp>
      <p:sp>
        <p:nvSpPr>
          <p:cNvPr id="22" name="Rectangle 21"/>
          <p:cNvSpPr/>
          <p:nvPr/>
        </p:nvSpPr>
        <p:spPr>
          <a:xfrm>
            <a:off x="4937760" y="4187952"/>
            <a:ext cx="91440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0</a:t>
            </a:r>
          </a:p>
        </p:txBody>
      </p:sp>
      <p:sp>
        <p:nvSpPr>
          <p:cNvPr id="23" name="Rectangle 22"/>
          <p:cNvSpPr/>
          <p:nvPr/>
        </p:nvSpPr>
        <p:spPr>
          <a:xfrm>
            <a:off x="1828800" y="4581144"/>
            <a:ext cx="73152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0</a:t>
            </a:r>
          </a:p>
        </p:txBody>
      </p:sp>
      <p:sp>
        <p:nvSpPr>
          <p:cNvPr id="24" name="Rectangle 23"/>
          <p:cNvSpPr/>
          <p:nvPr/>
        </p:nvSpPr>
        <p:spPr>
          <a:xfrm>
            <a:off x="2560320" y="4581144"/>
            <a:ext cx="73152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1</a:t>
            </a:r>
          </a:p>
        </p:txBody>
      </p:sp>
      <p:sp>
        <p:nvSpPr>
          <p:cNvPr id="25" name="Rectangle 24"/>
          <p:cNvSpPr/>
          <p:nvPr/>
        </p:nvSpPr>
        <p:spPr>
          <a:xfrm>
            <a:off x="3291839" y="4581144"/>
            <a:ext cx="82296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0</a:t>
            </a:r>
          </a:p>
        </p:txBody>
      </p:sp>
      <p:sp>
        <p:nvSpPr>
          <p:cNvPr id="26" name="Rectangle 25"/>
          <p:cNvSpPr/>
          <p:nvPr/>
        </p:nvSpPr>
        <p:spPr>
          <a:xfrm>
            <a:off x="4114800" y="4581144"/>
            <a:ext cx="82296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1</a:t>
            </a:r>
          </a:p>
        </p:txBody>
      </p:sp>
      <p:sp>
        <p:nvSpPr>
          <p:cNvPr id="27" name="Rectangle 26"/>
          <p:cNvSpPr/>
          <p:nvPr/>
        </p:nvSpPr>
        <p:spPr>
          <a:xfrm>
            <a:off x="4937760" y="4581144"/>
            <a:ext cx="91440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0</a:t>
            </a:r>
          </a:p>
        </p:txBody>
      </p:sp>
      <p:sp>
        <p:nvSpPr>
          <p:cNvPr id="28" name="Rectangle 27"/>
          <p:cNvSpPr/>
          <p:nvPr/>
        </p:nvSpPr>
        <p:spPr>
          <a:xfrm>
            <a:off x="1828800" y="4974336"/>
            <a:ext cx="73152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1</a:t>
            </a:r>
          </a:p>
        </p:txBody>
      </p:sp>
      <p:sp>
        <p:nvSpPr>
          <p:cNvPr id="29" name="Rectangle 28"/>
          <p:cNvSpPr/>
          <p:nvPr/>
        </p:nvSpPr>
        <p:spPr>
          <a:xfrm>
            <a:off x="2560320" y="4974336"/>
            <a:ext cx="73152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1</a:t>
            </a:r>
          </a:p>
        </p:txBody>
      </p:sp>
      <p:sp>
        <p:nvSpPr>
          <p:cNvPr id="30" name="Rectangle 29"/>
          <p:cNvSpPr/>
          <p:nvPr/>
        </p:nvSpPr>
        <p:spPr>
          <a:xfrm>
            <a:off x="3291839" y="4974336"/>
            <a:ext cx="82296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0</a:t>
            </a:r>
          </a:p>
        </p:txBody>
      </p:sp>
      <p:sp>
        <p:nvSpPr>
          <p:cNvPr id="31" name="Rectangle 30"/>
          <p:cNvSpPr/>
          <p:nvPr/>
        </p:nvSpPr>
        <p:spPr>
          <a:xfrm>
            <a:off x="4114800" y="4974336"/>
            <a:ext cx="82296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0</a:t>
            </a:r>
          </a:p>
        </p:txBody>
      </p:sp>
      <p:sp>
        <p:nvSpPr>
          <p:cNvPr id="32" name="Rectangle 31"/>
          <p:cNvSpPr/>
          <p:nvPr/>
        </p:nvSpPr>
        <p:spPr>
          <a:xfrm>
            <a:off x="4937760" y="4974336"/>
            <a:ext cx="91440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1</a:t>
            </a:r>
          </a:p>
        </p:txBody>
      </p:sp>
      <p:sp>
        <p:nvSpPr>
          <p:cNvPr id="33" name="Rectangle 32"/>
          <p:cNvSpPr/>
          <p:nvPr/>
        </p:nvSpPr>
        <p:spPr>
          <a:xfrm>
            <a:off x="1828800" y="5367528"/>
            <a:ext cx="73152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1</a:t>
            </a:r>
          </a:p>
        </p:txBody>
      </p:sp>
      <p:sp>
        <p:nvSpPr>
          <p:cNvPr id="34" name="Rectangle 33"/>
          <p:cNvSpPr/>
          <p:nvPr/>
        </p:nvSpPr>
        <p:spPr>
          <a:xfrm>
            <a:off x="2560320" y="5367528"/>
            <a:ext cx="73152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0</a:t>
            </a:r>
          </a:p>
        </p:txBody>
      </p:sp>
      <p:sp>
        <p:nvSpPr>
          <p:cNvPr id="35" name="Rectangle 34"/>
          <p:cNvSpPr/>
          <p:nvPr/>
        </p:nvSpPr>
        <p:spPr>
          <a:xfrm>
            <a:off x="3291839" y="5367528"/>
            <a:ext cx="82296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1</a:t>
            </a:r>
          </a:p>
        </p:txBody>
      </p:sp>
      <p:sp>
        <p:nvSpPr>
          <p:cNvPr id="36" name="Rectangle 35"/>
          <p:cNvSpPr/>
          <p:nvPr/>
        </p:nvSpPr>
        <p:spPr>
          <a:xfrm>
            <a:off x="4114800" y="5367528"/>
            <a:ext cx="82296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0</a:t>
            </a:r>
          </a:p>
        </p:txBody>
      </p:sp>
      <p:sp>
        <p:nvSpPr>
          <p:cNvPr id="37" name="Rectangle 36"/>
          <p:cNvSpPr/>
          <p:nvPr/>
        </p:nvSpPr>
        <p:spPr>
          <a:xfrm>
            <a:off x="4937760" y="5367528"/>
            <a:ext cx="91440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1</a:t>
            </a:r>
          </a:p>
        </p:txBody>
      </p:sp>
      <p:sp>
        <p:nvSpPr>
          <p:cNvPr id="38" name="Rectangle 37"/>
          <p:cNvSpPr/>
          <p:nvPr/>
        </p:nvSpPr>
        <p:spPr>
          <a:xfrm>
            <a:off x="1828800" y="5760720"/>
            <a:ext cx="73152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1</a:t>
            </a:r>
          </a:p>
        </p:txBody>
      </p:sp>
      <p:sp>
        <p:nvSpPr>
          <p:cNvPr id="39" name="Rectangle 38"/>
          <p:cNvSpPr/>
          <p:nvPr/>
        </p:nvSpPr>
        <p:spPr>
          <a:xfrm>
            <a:off x="2560320" y="5760720"/>
            <a:ext cx="73152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1</a:t>
            </a:r>
          </a:p>
        </p:txBody>
      </p:sp>
      <p:sp>
        <p:nvSpPr>
          <p:cNvPr id="40" name="Rectangle 39"/>
          <p:cNvSpPr/>
          <p:nvPr/>
        </p:nvSpPr>
        <p:spPr>
          <a:xfrm>
            <a:off x="3291839" y="5760720"/>
            <a:ext cx="82296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1</a:t>
            </a:r>
          </a:p>
        </p:txBody>
      </p:sp>
      <p:sp>
        <p:nvSpPr>
          <p:cNvPr id="41" name="Rectangle 40"/>
          <p:cNvSpPr/>
          <p:nvPr/>
        </p:nvSpPr>
        <p:spPr>
          <a:xfrm>
            <a:off x="4114800" y="5760720"/>
            <a:ext cx="82296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1</a:t>
            </a:r>
          </a:p>
        </p:txBody>
      </p:sp>
      <p:sp>
        <p:nvSpPr>
          <p:cNvPr id="42" name="Rectangle 41"/>
          <p:cNvSpPr/>
          <p:nvPr/>
        </p:nvSpPr>
        <p:spPr>
          <a:xfrm>
            <a:off x="4937760" y="5760720"/>
            <a:ext cx="914400" cy="393192"/>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1E293B"/>
                </a:solidFill>
              </a:rPr>
              <a:t>1</a:t>
            </a:r>
          </a:p>
        </p:txBody>
      </p:sp>
      <p:sp>
        <p:nvSpPr>
          <p:cNvPr id="43" name="TextBox 42"/>
          <p:cNvSpPr txBox="1"/>
          <p:nvPr/>
        </p:nvSpPr>
        <p:spPr>
          <a:xfrm>
            <a:off x="6400800" y="3886200"/>
            <a:ext cx="4663440" cy="1097280"/>
          </a:xfrm>
          <a:prstGeom prst="rect">
            <a:avLst/>
          </a:prstGeom>
          <a:noFill/>
        </p:spPr>
        <p:txBody>
          <a:bodyPr wrap="none">
            <a:spAutoFit/>
          </a:bodyPr>
          <a:lstStyle/>
          <a:p>
            <a:r>
              <a:rPr sz="1600">
                <a:solidFill>
                  <a:srgbClr val="1E293B"/>
                </a:solidFill>
              </a:rPr>
              <a:t>Security connection:
The same AND/OR/XOR building blocks used by adders are used to combine sensor decisions.</a:t>
            </a:r>
          </a:p>
        </p:txBody>
      </p:sp>
      <p:sp>
        <p:nvSpPr>
          <p:cNvPr id="44" name="TextBox 43"/>
          <p:cNvSpPr txBox="1"/>
          <p:nvPr/>
        </p:nvSpPr>
        <p:spPr>
          <a:xfrm>
            <a:off x="10789920" y="6446520"/>
            <a:ext cx="914400" cy="228600"/>
          </a:xfrm>
          <a:prstGeom prst="rect">
            <a:avLst/>
          </a:prstGeom>
          <a:noFill/>
        </p:spPr>
        <p:txBody>
          <a:bodyPr wrap="none">
            <a:spAutoFit/>
          </a:bodyPr>
          <a:lstStyle/>
          <a:p>
            <a:pPr algn="r"/>
            <a:r>
              <a:rPr sz="900">
                <a:solidFill>
                  <a:srgbClr val="64748B"/>
                </a:solidFill>
              </a:rPr>
              <a:t>5/9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594360"/>
          </a:xfrm>
          <a:prstGeom prst="rect">
            <a:avLst/>
          </a:prstGeom>
          <a:noFill/>
        </p:spPr>
        <p:txBody>
          <a:bodyPr wrap="none">
            <a:spAutoFit/>
          </a:bodyPr>
          <a:lstStyle/>
          <a:p>
            <a:r>
              <a:rPr sz="2800" b="1">
                <a:solidFill>
                  <a:srgbClr val="0F1B30"/>
                </a:solidFill>
              </a:rPr>
              <a:t>5. Ripple-Carry Adder — Chaining Full Adders</a:t>
            </a:r>
          </a:p>
        </p:txBody>
      </p:sp>
      <p:sp>
        <p:nvSpPr>
          <p:cNvPr id="4" name="TextBox 3"/>
          <p:cNvSpPr txBox="1"/>
          <p:nvPr/>
        </p:nvSpPr>
        <p:spPr>
          <a:xfrm>
            <a:off x="566928" y="932688"/>
            <a:ext cx="10972800" cy="365760"/>
          </a:xfrm>
          <a:prstGeom prst="rect">
            <a:avLst/>
          </a:prstGeom>
          <a:noFill/>
        </p:spPr>
        <p:txBody>
          <a:bodyPr wrap="none">
            <a:spAutoFit/>
          </a:bodyPr>
          <a:lstStyle/>
          <a:p>
            <a:r>
              <a:rPr sz="1200">
                <a:solidFill>
                  <a:srgbClr val="64748B"/>
                </a:solidFill>
              </a:rPr>
              <a:t>A multi-bit adder is built by connecting the carry-out of one stage to the carry-in of the next.</a:t>
            </a:r>
          </a:p>
        </p:txBody>
      </p:sp>
      <p:sp>
        <p:nvSpPr>
          <p:cNvPr id="5" name="Rounded Rectangle 4"/>
          <p:cNvSpPr/>
          <p:nvPr/>
        </p:nvSpPr>
        <p:spPr>
          <a:xfrm>
            <a:off x="914400" y="2148840"/>
            <a:ext cx="1600200" cy="1051560"/>
          </a:xfrm>
          <a:prstGeom prst="roundRect">
            <a:avLst/>
          </a:prstGeom>
          <a:solidFill>
            <a:srgbClr val="2363EB"/>
          </a:solidFill>
          <a:ln>
            <a:solidFill>
              <a:srgbClr val="23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Full Adder
Bit 0</a:t>
            </a:r>
          </a:p>
        </p:txBody>
      </p:sp>
      <p:cxnSp>
        <p:nvCxnSpPr>
          <p:cNvPr id="6" name="Connector 5"/>
          <p:cNvCxnSpPr/>
          <p:nvPr/>
        </p:nvCxnSpPr>
        <p:spPr>
          <a:xfrm>
            <a:off x="2514600" y="2679192"/>
            <a:ext cx="822960" cy="0"/>
          </a:xfrm>
          <a:prstGeom prst="line">
            <a:avLst/>
          </a:prstGeom>
          <a:ln w="38100">
            <a:solidFill>
              <a:srgbClr val="F59E0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697480" y="2331720"/>
            <a:ext cx="594360" cy="274320"/>
          </a:xfrm>
          <a:prstGeom prst="rect">
            <a:avLst/>
          </a:prstGeom>
          <a:noFill/>
        </p:spPr>
        <p:txBody>
          <a:bodyPr wrap="none">
            <a:spAutoFit/>
          </a:bodyPr>
          <a:lstStyle/>
          <a:p>
            <a:pPr algn="ctr"/>
            <a:r>
              <a:rPr sz="1200" b="1">
                <a:solidFill>
                  <a:srgbClr val="F59E0B"/>
                </a:solidFill>
              </a:rPr>
              <a:t>C</a:t>
            </a:r>
          </a:p>
        </p:txBody>
      </p:sp>
      <p:sp>
        <p:nvSpPr>
          <p:cNvPr id="8" name="Rounded Rectangle 7"/>
          <p:cNvSpPr/>
          <p:nvPr/>
        </p:nvSpPr>
        <p:spPr>
          <a:xfrm>
            <a:off x="3337560" y="2148840"/>
            <a:ext cx="1600200" cy="1051560"/>
          </a:xfrm>
          <a:prstGeom prst="roundRect">
            <a:avLst/>
          </a:prstGeom>
          <a:solidFill>
            <a:srgbClr val="2363EB"/>
          </a:solidFill>
          <a:ln>
            <a:solidFill>
              <a:srgbClr val="23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Full Adder
Bit 1</a:t>
            </a:r>
          </a:p>
        </p:txBody>
      </p:sp>
      <p:cxnSp>
        <p:nvCxnSpPr>
          <p:cNvPr id="9" name="Connector 8"/>
          <p:cNvCxnSpPr/>
          <p:nvPr/>
        </p:nvCxnSpPr>
        <p:spPr>
          <a:xfrm>
            <a:off x="4937760" y="2679192"/>
            <a:ext cx="822960" cy="0"/>
          </a:xfrm>
          <a:prstGeom prst="line">
            <a:avLst/>
          </a:prstGeom>
          <a:ln w="38100">
            <a:solidFill>
              <a:srgbClr val="F59E0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120640" y="2331720"/>
            <a:ext cx="594360" cy="274320"/>
          </a:xfrm>
          <a:prstGeom prst="rect">
            <a:avLst/>
          </a:prstGeom>
          <a:noFill/>
        </p:spPr>
        <p:txBody>
          <a:bodyPr wrap="none">
            <a:spAutoFit/>
          </a:bodyPr>
          <a:lstStyle/>
          <a:p>
            <a:pPr algn="ctr"/>
            <a:r>
              <a:rPr sz="1200" b="1">
                <a:solidFill>
                  <a:srgbClr val="F59E0B"/>
                </a:solidFill>
              </a:rPr>
              <a:t>C</a:t>
            </a:r>
          </a:p>
        </p:txBody>
      </p:sp>
      <p:sp>
        <p:nvSpPr>
          <p:cNvPr id="11" name="Rounded Rectangle 10"/>
          <p:cNvSpPr/>
          <p:nvPr/>
        </p:nvSpPr>
        <p:spPr>
          <a:xfrm>
            <a:off x="5760720" y="2148840"/>
            <a:ext cx="1600200" cy="1051560"/>
          </a:xfrm>
          <a:prstGeom prst="roundRect">
            <a:avLst/>
          </a:prstGeom>
          <a:solidFill>
            <a:srgbClr val="2363EB"/>
          </a:solidFill>
          <a:ln>
            <a:solidFill>
              <a:srgbClr val="23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Full Adder
Bit 2</a:t>
            </a:r>
          </a:p>
        </p:txBody>
      </p:sp>
      <p:cxnSp>
        <p:nvCxnSpPr>
          <p:cNvPr id="12" name="Connector 11"/>
          <p:cNvCxnSpPr/>
          <p:nvPr/>
        </p:nvCxnSpPr>
        <p:spPr>
          <a:xfrm>
            <a:off x="7360920" y="2679192"/>
            <a:ext cx="822959" cy="0"/>
          </a:xfrm>
          <a:prstGeom prst="line">
            <a:avLst/>
          </a:prstGeom>
          <a:ln w="38100">
            <a:solidFill>
              <a:srgbClr val="F59E0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543800" y="2331720"/>
            <a:ext cx="594360" cy="274320"/>
          </a:xfrm>
          <a:prstGeom prst="rect">
            <a:avLst/>
          </a:prstGeom>
          <a:noFill/>
        </p:spPr>
        <p:txBody>
          <a:bodyPr wrap="none">
            <a:spAutoFit/>
          </a:bodyPr>
          <a:lstStyle/>
          <a:p>
            <a:pPr algn="ctr"/>
            <a:r>
              <a:rPr sz="1200" b="1">
                <a:solidFill>
                  <a:srgbClr val="F59E0B"/>
                </a:solidFill>
              </a:rPr>
              <a:t>C</a:t>
            </a:r>
          </a:p>
        </p:txBody>
      </p:sp>
      <p:sp>
        <p:nvSpPr>
          <p:cNvPr id="14" name="Rounded Rectangle 13"/>
          <p:cNvSpPr/>
          <p:nvPr/>
        </p:nvSpPr>
        <p:spPr>
          <a:xfrm>
            <a:off x="8183879" y="2148840"/>
            <a:ext cx="1600200" cy="105156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Full Adder
Bit 3</a:t>
            </a:r>
          </a:p>
        </p:txBody>
      </p:sp>
      <p:sp>
        <p:nvSpPr>
          <p:cNvPr id="15" name="TextBox 14"/>
          <p:cNvSpPr txBox="1"/>
          <p:nvPr/>
        </p:nvSpPr>
        <p:spPr>
          <a:xfrm>
            <a:off x="914400" y="3749039"/>
            <a:ext cx="10332720" cy="1371600"/>
          </a:xfrm>
          <a:prstGeom prst="rect">
            <a:avLst/>
          </a:prstGeom>
          <a:noFill/>
        </p:spPr>
        <p:txBody>
          <a:bodyPr wrap="none">
            <a:spAutoFit/>
          </a:bodyPr>
          <a:lstStyle/>
          <a:p>
            <a:r>
              <a:rPr sz="2300" b="1">
                <a:solidFill>
                  <a:srgbClr val="0F1B30"/>
                </a:solidFill>
              </a:rPr>
              <a:t>Example: 1011 + 0110 = 10001
</a:t>
            </a:r>
            <a:r>
              <a:rPr sz="1600">
                <a:solidFill>
                  <a:srgbClr val="1E293B"/>
                </a:solidFill>
              </a:rPr>
              <a:t>Each full adder calculates one bit and passes the carry forward. The same modular design idea is useful when building larger digital systems.</a:t>
            </a:r>
          </a:p>
        </p:txBody>
      </p:sp>
      <p:sp>
        <p:nvSpPr>
          <p:cNvPr id="16" name="TextBox 15"/>
          <p:cNvSpPr txBox="1"/>
          <p:nvPr/>
        </p:nvSpPr>
        <p:spPr>
          <a:xfrm>
            <a:off x="10789920" y="6446520"/>
            <a:ext cx="914400" cy="228600"/>
          </a:xfrm>
          <a:prstGeom prst="rect">
            <a:avLst/>
          </a:prstGeom>
          <a:noFill/>
        </p:spPr>
        <p:txBody>
          <a:bodyPr wrap="none">
            <a:spAutoFit/>
          </a:bodyPr>
          <a:lstStyle/>
          <a:p>
            <a:pPr algn="r"/>
            <a:r>
              <a:rPr sz="900">
                <a:solidFill>
                  <a:srgbClr val="64748B"/>
                </a:solidFill>
              </a:rPr>
              <a:t>6/9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594360"/>
          </a:xfrm>
          <a:prstGeom prst="rect">
            <a:avLst/>
          </a:prstGeom>
          <a:noFill/>
        </p:spPr>
        <p:txBody>
          <a:bodyPr wrap="none">
            <a:spAutoFit/>
          </a:bodyPr>
          <a:lstStyle/>
          <a:p>
            <a:r>
              <a:rPr sz="2800" b="1">
                <a:solidFill>
                  <a:srgbClr val="0F1B30"/>
                </a:solidFill>
              </a:rPr>
              <a:t>6. Smart Home Security — Complete Combinational Design</a:t>
            </a:r>
          </a:p>
        </p:txBody>
      </p:sp>
      <p:sp>
        <p:nvSpPr>
          <p:cNvPr id="4" name="TextBox 3"/>
          <p:cNvSpPr txBox="1"/>
          <p:nvPr/>
        </p:nvSpPr>
        <p:spPr>
          <a:xfrm>
            <a:off x="566928" y="932688"/>
            <a:ext cx="10972800" cy="365760"/>
          </a:xfrm>
          <a:prstGeom prst="rect">
            <a:avLst/>
          </a:prstGeom>
          <a:noFill/>
        </p:spPr>
        <p:txBody>
          <a:bodyPr wrap="none">
            <a:spAutoFit/>
          </a:bodyPr>
          <a:lstStyle/>
          <a:p>
            <a:r>
              <a:rPr sz="1200">
                <a:solidFill>
                  <a:srgbClr val="64748B"/>
                </a:solidFill>
              </a:rPr>
              <a:t>A simple decision network for door, window, motion and arming status.</a:t>
            </a:r>
          </a:p>
        </p:txBody>
      </p:sp>
      <p:sp>
        <p:nvSpPr>
          <p:cNvPr id="5" name="Rounded Rectangle 4"/>
          <p:cNvSpPr/>
          <p:nvPr/>
        </p:nvSpPr>
        <p:spPr>
          <a:xfrm>
            <a:off x="594360" y="1828800"/>
            <a:ext cx="1508760" cy="91440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Door D</a:t>
            </a:r>
          </a:p>
        </p:txBody>
      </p:sp>
      <p:sp>
        <p:nvSpPr>
          <p:cNvPr id="6" name="Rounded Rectangle 5"/>
          <p:cNvSpPr/>
          <p:nvPr/>
        </p:nvSpPr>
        <p:spPr>
          <a:xfrm>
            <a:off x="594360" y="3154680"/>
            <a:ext cx="1508760" cy="91440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Window W</a:t>
            </a:r>
          </a:p>
        </p:txBody>
      </p:sp>
      <p:sp>
        <p:nvSpPr>
          <p:cNvPr id="7" name="Rounded Rectangle 6"/>
          <p:cNvSpPr/>
          <p:nvPr/>
        </p:nvSpPr>
        <p:spPr>
          <a:xfrm>
            <a:off x="594360" y="4480560"/>
            <a:ext cx="1508760" cy="91440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Motion M</a:t>
            </a:r>
          </a:p>
        </p:txBody>
      </p:sp>
      <p:sp>
        <p:nvSpPr>
          <p:cNvPr id="8" name="Rounded Rectangle 7"/>
          <p:cNvSpPr/>
          <p:nvPr/>
        </p:nvSpPr>
        <p:spPr>
          <a:xfrm>
            <a:off x="2880360" y="2651760"/>
            <a:ext cx="1554480" cy="914400"/>
          </a:xfrm>
          <a:prstGeom prst="roundRect">
            <a:avLst/>
          </a:prstGeom>
          <a:solidFill>
            <a:srgbClr val="2363EB"/>
          </a:solidFill>
          <a:ln>
            <a:solidFill>
              <a:srgbClr val="23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OR
Intrusion</a:t>
            </a:r>
          </a:p>
        </p:txBody>
      </p:sp>
      <p:sp>
        <p:nvSpPr>
          <p:cNvPr id="9" name="Rounded Rectangle 8"/>
          <p:cNvSpPr/>
          <p:nvPr/>
        </p:nvSpPr>
        <p:spPr>
          <a:xfrm>
            <a:off x="5212080" y="2743200"/>
            <a:ext cx="1645920" cy="91440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AND
with Armed</a:t>
            </a:r>
          </a:p>
        </p:txBody>
      </p:sp>
      <p:sp>
        <p:nvSpPr>
          <p:cNvPr id="10" name="Rounded Rectangle 9"/>
          <p:cNvSpPr/>
          <p:nvPr/>
        </p:nvSpPr>
        <p:spPr>
          <a:xfrm>
            <a:off x="7680960" y="2103120"/>
            <a:ext cx="1554480" cy="914400"/>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rPr>
              <a:t>ALARM</a:t>
            </a:r>
          </a:p>
        </p:txBody>
      </p:sp>
      <p:sp>
        <p:nvSpPr>
          <p:cNvPr id="11" name="Rounded Rectangle 10"/>
          <p:cNvSpPr/>
          <p:nvPr/>
        </p:nvSpPr>
        <p:spPr>
          <a:xfrm>
            <a:off x="7680960" y="3474720"/>
            <a:ext cx="1554480" cy="91440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rPr>
              <a:t>LED</a:t>
            </a:r>
          </a:p>
        </p:txBody>
      </p:sp>
      <p:sp>
        <p:nvSpPr>
          <p:cNvPr id="12" name="Rounded Rectangle 11"/>
          <p:cNvSpPr/>
          <p:nvPr/>
        </p:nvSpPr>
        <p:spPr>
          <a:xfrm>
            <a:off x="7680960" y="4846320"/>
            <a:ext cx="1554480" cy="914400"/>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BUZZER</a:t>
            </a:r>
          </a:p>
        </p:txBody>
      </p:sp>
      <p:sp>
        <p:nvSpPr>
          <p:cNvPr id="13" name="Rounded Rectangle 12"/>
          <p:cNvSpPr/>
          <p:nvPr/>
        </p:nvSpPr>
        <p:spPr>
          <a:xfrm>
            <a:off x="5212080" y="4709160"/>
            <a:ext cx="1645920" cy="64008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Armed A</a:t>
            </a:r>
          </a:p>
        </p:txBody>
      </p:sp>
      <p:cxnSp>
        <p:nvCxnSpPr>
          <p:cNvPr id="14" name="Connector 13"/>
          <p:cNvCxnSpPr/>
          <p:nvPr/>
        </p:nvCxnSpPr>
        <p:spPr>
          <a:xfrm>
            <a:off x="2103120" y="2286000"/>
            <a:ext cx="777240" cy="59436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103120" y="3108960"/>
            <a:ext cx="777240" cy="50292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103120" y="3337560"/>
            <a:ext cx="777240" cy="160020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434840" y="3108960"/>
            <a:ext cx="777240"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6858000" y="2560320"/>
            <a:ext cx="822960" cy="54864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3108960"/>
            <a:ext cx="822960" cy="82296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858000" y="3108960"/>
            <a:ext cx="822960" cy="196596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6035040" y="3657600"/>
            <a:ext cx="0" cy="105156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601200" y="1828800"/>
            <a:ext cx="2011680" cy="3383280"/>
          </a:xfrm>
          <a:prstGeom prst="rect">
            <a:avLst/>
          </a:prstGeom>
          <a:noFill/>
        </p:spPr>
        <p:txBody>
          <a:bodyPr wrap="none">
            <a:spAutoFit/>
          </a:bodyPr>
          <a:lstStyle/>
          <a:p>
            <a:r>
              <a:rPr b="1" sz="1800">
                <a:solidFill>
                  <a:srgbClr val="0F1B30"/>
                </a:solidFill>
              </a:rPr>
              <a:t>Logic equation</a:t>
            </a:r>
          </a:p>
          <a:p>
            <a:r>
              <a:rPr sz="1800" b="1">
                <a:solidFill>
                  <a:srgbClr val="EF4444"/>
                </a:solidFill>
              </a:rPr>
              <a:t>ALARM = A(D + W + M)</a:t>
            </a:r>
          </a:p>
          <a:p>
            <a:r>
              <a:rPr sz="1400">
                <a:solidFill>
                  <a:srgbClr val="1E293B"/>
                </a:solidFill>
              </a:rPr>
              <a:t>
This is purely combinational: the alarm reflects the present sensor inputs.</a:t>
            </a:r>
          </a:p>
        </p:txBody>
      </p:sp>
      <p:sp>
        <p:nvSpPr>
          <p:cNvPr id="23" name="TextBox 22"/>
          <p:cNvSpPr txBox="1"/>
          <p:nvPr/>
        </p:nvSpPr>
        <p:spPr>
          <a:xfrm>
            <a:off x="10789920" y="6446520"/>
            <a:ext cx="914400" cy="228600"/>
          </a:xfrm>
          <a:prstGeom prst="rect">
            <a:avLst/>
          </a:prstGeom>
          <a:noFill/>
        </p:spPr>
        <p:txBody>
          <a:bodyPr wrap="none">
            <a:spAutoFit/>
          </a:bodyPr>
          <a:lstStyle/>
          <a:p>
            <a:pPr algn="r"/>
            <a:r>
              <a:rPr sz="900">
                <a:solidFill>
                  <a:srgbClr val="64748B"/>
                </a:solidFill>
              </a:rPr>
              <a:t>7/9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594360"/>
          </a:xfrm>
          <a:prstGeom prst="rect">
            <a:avLst/>
          </a:prstGeom>
          <a:noFill/>
        </p:spPr>
        <p:txBody>
          <a:bodyPr wrap="none">
            <a:spAutoFit/>
          </a:bodyPr>
          <a:lstStyle/>
          <a:p>
            <a:r>
              <a:rPr sz="2800" b="1">
                <a:solidFill>
                  <a:srgbClr val="0F1B30"/>
                </a:solidFill>
              </a:rPr>
              <a:t>7. Simulation &amp; Verification</a:t>
            </a:r>
          </a:p>
        </p:txBody>
      </p:sp>
      <p:sp>
        <p:nvSpPr>
          <p:cNvPr id="4" name="TextBox 3"/>
          <p:cNvSpPr txBox="1"/>
          <p:nvPr/>
        </p:nvSpPr>
        <p:spPr>
          <a:xfrm>
            <a:off x="566928" y="932688"/>
            <a:ext cx="10972800" cy="365760"/>
          </a:xfrm>
          <a:prstGeom prst="rect">
            <a:avLst/>
          </a:prstGeom>
          <a:noFill/>
        </p:spPr>
        <p:txBody>
          <a:bodyPr wrap="none">
            <a:spAutoFit/>
          </a:bodyPr>
          <a:lstStyle/>
          <a:p>
            <a:r>
              <a:rPr sz="1200">
                <a:solidFill>
                  <a:srgbClr val="64748B"/>
                </a:solidFill>
              </a:rPr>
              <a:t>Test input combinations before implementing the circuit in hardware.</a:t>
            </a:r>
          </a:p>
        </p:txBody>
      </p:sp>
      <p:sp>
        <p:nvSpPr>
          <p:cNvPr id="5" name="Rounded Rectangle 4"/>
          <p:cNvSpPr/>
          <p:nvPr/>
        </p:nvSpPr>
        <p:spPr>
          <a:xfrm>
            <a:off x="640080" y="1417320"/>
            <a:ext cx="3383280" cy="16459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3152" cy="16459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563624"/>
            <a:ext cx="3063240" cy="411480"/>
          </a:xfrm>
          <a:prstGeom prst="rect">
            <a:avLst/>
          </a:prstGeom>
          <a:noFill/>
        </p:spPr>
        <p:txBody>
          <a:bodyPr wrap="none">
            <a:spAutoFit/>
          </a:bodyPr>
          <a:lstStyle/>
          <a:p>
            <a:r>
              <a:rPr sz="1700" b="1">
                <a:solidFill>
                  <a:srgbClr val="0F1B30"/>
                </a:solidFill>
              </a:rPr>
              <a:t>Simulation inputs</a:t>
            </a:r>
          </a:p>
        </p:txBody>
      </p:sp>
      <p:sp>
        <p:nvSpPr>
          <p:cNvPr id="8" name="TextBox 7"/>
          <p:cNvSpPr txBox="1"/>
          <p:nvPr/>
        </p:nvSpPr>
        <p:spPr>
          <a:xfrm>
            <a:off x="822959" y="2039112"/>
            <a:ext cx="3063240" cy="914400"/>
          </a:xfrm>
          <a:prstGeom prst="rect">
            <a:avLst/>
          </a:prstGeom>
          <a:noFill/>
        </p:spPr>
        <p:txBody>
          <a:bodyPr wrap="square">
            <a:spAutoFit/>
          </a:bodyPr>
          <a:lstStyle/>
          <a:p>
            <a:r>
              <a:rPr sz="1300">
                <a:solidFill>
                  <a:srgbClr val="1E293B"/>
                </a:solidFill>
              </a:rPr>
              <a:t>D, W, M and A can be represented by switches or digital input sources.</a:t>
            </a:r>
          </a:p>
        </p:txBody>
      </p:sp>
      <p:sp>
        <p:nvSpPr>
          <p:cNvPr id="9" name="Rounded Rectangle 8"/>
          <p:cNvSpPr/>
          <p:nvPr/>
        </p:nvSpPr>
        <p:spPr>
          <a:xfrm>
            <a:off x="4389120" y="1417320"/>
            <a:ext cx="3383280" cy="16459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417320"/>
            <a:ext cx="73152" cy="1645920"/>
          </a:xfrm>
          <a:prstGeom prst="rect">
            <a:avLst/>
          </a:prstGeom>
          <a:solidFill>
            <a:srgbClr val="23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563624"/>
            <a:ext cx="3063240" cy="411480"/>
          </a:xfrm>
          <a:prstGeom prst="rect">
            <a:avLst/>
          </a:prstGeom>
          <a:noFill/>
        </p:spPr>
        <p:txBody>
          <a:bodyPr wrap="none">
            <a:spAutoFit/>
          </a:bodyPr>
          <a:lstStyle/>
          <a:p>
            <a:r>
              <a:rPr sz="1700" b="1">
                <a:solidFill>
                  <a:srgbClr val="0F1B30"/>
                </a:solidFill>
              </a:rPr>
              <a:t>Logic circuit</a:t>
            </a:r>
          </a:p>
        </p:txBody>
      </p:sp>
      <p:sp>
        <p:nvSpPr>
          <p:cNvPr id="12" name="TextBox 11"/>
          <p:cNvSpPr txBox="1"/>
          <p:nvPr/>
        </p:nvSpPr>
        <p:spPr>
          <a:xfrm>
            <a:off x="4572000" y="2039112"/>
            <a:ext cx="3063240" cy="914400"/>
          </a:xfrm>
          <a:prstGeom prst="rect">
            <a:avLst/>
          </a:prstGeom>
          <a:noFill/>
        </p:spPr>
        <p:txBody>
          <a:bodyPr wrap="square">
            <a:spAutoFit/>
          </a:bodyPr>
          <a:lstStyle/>
          <a:p>
            <a:r>
              <a:rPr sz="1300">
                <a:solidFill>
                  <a:srgbClr val="1E293B"/>
                </a:solidFill>
              </a:rPr>
              <a:t>Implement OR + AND gates, then connect the outputs to LED/Buzzer indicators.</a:t>
            </a:r>
          </a:p>
        </p:txBody>
      </p:sp>
      <p:sp>
        <p:nvSpPr>
          <p:cNvPr id="13" name="Rounded Rectangle 12"/>
          <p:cNvSpPr/>
          <p:nvPr/>
        </p:nvSpPr>
        <p:spPr>
          <a:xfrm>
            <a:off x="8138160" y="1417320"/>
            <a:ext cx="3383280" cy="16459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417320"/>
            <a:ext cx="73152" cy="16459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563624"/>
            <a:ext cx="3063240" cy="411480"/>
          </a:xfrm>
          <a:prstGeom prst="rect">
            <a:avLst/>
          </a:prstGeom>
          <a:noFill/>
        </p:spPr>
        <p:txBody>
          <a:bodyPr wrap="none">
            <a:spAutoFit/>
          </a:bodyPr>
          <a:lstStyle/>
          <a:p>
            <a:r>
              <a:rPr sz="1700" b="1">
                <a:solidFill>
                  <a:srgbClr val="0F1B30"/>
                </a:solidFill>
              </a:rPr>
              <a:t>Expected result</a:t>
            </a:r>
          </a:p>
        </p:txBody>
      </p:sp>
      <p:sp>
        <p:nvSpPr>
          <p:cNvPr id="16" name="TextBox 15"/>
          <p:cNvSpPr txBox="1"/>
          <p:nvPr/>
        </p:nvSpPr>
        <p:spPr>
          <a:xfrm>
            <a:off x="8321040" y="2039112"/>
            <a:ext cx="3063240" cy="914400"/>
          </a:xfrm>
          <a:prstGeom prst="rect">
            <a:avLst/>
          </a:prstGeom>
          <a:noFill/>
        </p:spPr>
        <p:txBody>
          <a:bodyPr wrap="square">
            <a:spAutoFit/>
          </a:bodyPr>
          <a:lstStyle/>
          <a:p>
            <a:r>
              <a:rPr sz="1300">
                <a:solidFill>
                  <a:srgbClr val="1E293B"/>
                </a:solidFill>
              </a:rPr>
              <a:t>Alarm = 1 only when the system is armed and at least one intrusion condition is active.</a:t>
            </a:r>
          </a:p>
        </p:txBody>
      </p:sp>
      <p:sp>
        <p:nvSpPr>
          <p:cNvPr id="17" name="Rectangle 16"/>
          <p:cNvSpPr/>
          <p:nvPr/>
        </p:nvSpPr>
        <p:spPr>
          <a:xfrm>
            <a:off x="1828800" y="3703320"/>
            <a:ext cx="640080" cy="384048"/>
          </a:xfrm>
          <a:prstGeom prst="rect">
            <a:avLst/>
          </a:prstGeom>
          <a:solidFill>
            <a:srgbClr val="2363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D</a:t>
            </a:r>
          </a:p>
        </p:txBody>
      </p:sp>
      <p:sp>
        <p:nvSpPr>
          <p:cNvPr id="18" name="Rectangle 17"/>
          <p:cNvSpPr/>
          <p:nvPr/>
        </p:nvSpPr>
        <p:spPr>
          <a:xfrm>
            <a:off x="2468880" y="3703320"/>
            <a:ext cx="640080" cy="384048"/>
          </a:xfrm>
          <a:prstGeom prst="rect">
            <a:avLst/>
          </a:prstGeom>
          <a:solidFill>
            <a:srgbClr val="2363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W</a:t>
            </a:r>
          </a:p>
        </p:txBody>
      </p:sp>
      <p:sp>
        <p:nvSpPr>
          <p:cNvPr id="19" name="Rectangle 18"/>
          <p:cNvSpPr/>
          <p:nvPr/>
        </p:nvSpPr>
        <p:spPr>
          <a:xfrm>
            <a:off x="3108960" y="3703320"/>
            <a:ext cx="640080" cy="384048"/>
          </a:xfrm>
          <a:prstGeom prst="rect">
            <a:avLst/>
          </a:prstGeom>
          <a:solidFill>
            <a:srgbClr val="2363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M</a:t>
            </a:r>
          </a:p>
        </p:txBody>
      </p:sp>
      <p:sp>
        <p:nvSpPr>
          <p:cNvPr id="20" name="Rectangle 19"/>
          <p:cNvSpPr/>
          <p:nvPr/>
        </p:nvSpPr>
        <p:spPr>
          <a:xfrm>
            <a:off x="3749040" y="3703320"/>
            <a:ext cx="640080" cy="384048"/>
          </a:xfrm>
          <a:prstGeom prst="rect">
            <a:avLst/>
          </a:prstGeom>
          <a:solidFill>
            <a:srgbClr val="2363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A</a:t>
            </a:r>
          </a:p>
        </p:txBody>
      </p:sp>
      <p:sp>
        <p:nvSpPr>
          <p:cNvPr id="21" name="Rectangle 20"/>
          <p:cNvSpPr/>
          <p:nvPr/>
        </p:nvSpPr>
        <p:spPr>
          <a:xfrm>
            <a:off x="4389120" y="3703320"/>
            <a:ext cx="822960" cy="384048"/>
          </a:xfrm>
          <a:prstGeom prst="rect">
            <a:avLst/>
          </a:prstGeom>
          <a:solidFill>
            <a:srgbClr val="2363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ALARM</a:t>
            </a:r>
          </a:p>
        </p:txBody>
      </p:sp>
      <p:sp>
        <p:nvSpPr>
          <p:cNvPr id="22" name="Rectangle 21"/>
          <p:cNvSpPr/>
          <p:nvPr/>
        </p:nvSpPr>
        <p:spPr>
          <a:xfrm>
            <a:off x="5212080" y="3703320"/>
            <a:ext cx="1737360" cy="384048"/>
          </a:xfrm>
          <a:prstGeom prst="rect">
            <a:avLst/>
          </a:prstGeom>
          <a:solidFill>
            <a:srgbClr val="2363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Status</a:t>
            </a:r>
          </a:p>
        </p:txBody>
      </p:sp>
      <p:sp>
        <p:nvSpPr>
          <p:cNvPr id="23" name="Rectangle 22"/>
          <p:cNvSpPr/>
          <p:nvPr/>
        </p:nvSpPr>
        <p:spPr>
          <a:xfrm>
            <a:off x="1828800" y="4087368"/>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0</a:t>
            </a:r>
          </a:p>
        </p:txBody>
      </p:sp>
      <p:sp>
        <p:nvSpPr>
          <p:cNvPr id="24" name="Rectangle 23"/>
          <p:cNvSpPr/>
          <p:nvPr/>
        </p:nvSpPr>
        <p:spPr>
          <a:xfrm>
            <a:off x="2468880" y="4087368"/>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0</a:t>
            </a:r>
          </a:p>
        </p:txBody>
      </p:sp>
      <p:sp>
        <p:nvSpPr>
          <p:cNvPr id="25" name="Rectangle 24"/>
          <p:cNvSpPr/>
          <p:nvPr/>
        </p:nvSpPr>
        <p:spPr>
          <a:xfrm>
            <a:off x="3108960" y="4087368"/>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0</a:t>
            </a:r>
          </a:p>
        </p:txBody>
      </p:sp>
      <p:sp>
        <p:nvSpPr>
          <p:cNvPr id="26" name="Rectangle 25"/>
          <p:cNvSpPr/>
          <p:nvPr/>
        </p:nvSpPr>
        <p:spPr>
          <a:xfrm>
            <a:off x="3749040" y="4087368"/>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1</a:t>
            </a:r>
          </a:p>
        </p:txBody>
      </p:sp>
      <p:sp>
        <p:nvSpPr>
          <p:cNvPr id="27" name="Rectangle 26"/>
          <p:cNvSpPr/>
          <p:nvPr/>
        </p:nvSpPr>
        <p:spPr>
          <a:xfrm>
            <a:off x="4389120" y="4087368"/>
            <a:ext cx="82296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0</a:t>
            </a:r>
          </a:p>
        </p:txBody>
      </p:sp>
      <p:sp>
        <p:nvSpPr>
          <p:cNvPr id="28" name="Rectangle 27"/>
          <p:cNvSpPr/>
          <p:nvPr/>
        </p:nvSpPr>
        <p:spPr>
          <a:xfrm>
            <a:off x="5212080" y="4087368"/>
            <a:ext cx="173736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Safe</a:t>
            </a:r>
          </a:p>
        </p:txBody>
      </p:sp>
      <p:sp>
        <p:nvSpPr>
          <p:cNvPr id="29" name="Rectangle 28"/>
          <p:cNvSpPr/>
          <p:nvPr/>
        </p:nvSpPr>
        <p:spPr>
          <a:xfrm>
            <a:off x="1828800" y="4471416"/>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1</a:t>
            </a:r>
          </a:p>
        </p:txBody>
      </p:sp>
      <p:sp>
        <p:nvSpPr>
          <p:cNvPr id="30" name="Rectangle 29"/>
          <p:cNvSpPr/>
          <p:nvPr/>
        </p:nvSpPr>
        <p:spPr>
          <a:xfrm>
            <a:off x="2468880" y="4471416"/>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0</a:t>
            </a:r>
          </a:p>
        </p:txBody>
      </p:sp>
      <p:sp>
        <p:nvSpPr>
          <p:cNvPr id="31" name="Rectangle 30"/>
          <p:cNvSpPr/>
          <p:nvPr/>
        </p:nvSpPr>
        <p:spPr>
          <a:xfrm>
            <a:off x="3108960" y="4471416"/>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0</a:t>
            </a:r>
          </a:p>
        </p:txBody>
      </p:sp>
      <p:sp>
        <p:nvSpPr>
          <p:cNvPr id="32" name="Rectangle 31"/>
          <p:cNvSpPr/>
          <p:nvPr/>
        </p:nvSpPr>
        <p:spPr>
          <a:xfrm>
            <a:off x="3749040" y="4471416"/>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1</a:t>
            </a:r>
          </a:p>
        </p:txBody>
      </p:sp>
      <p:sp>
        <p:nvSpPr>
          <p:cNvPr id="33" name="Rectangle 32"/>
          <p:cNvSpPr/>
          <p:nvPr/>
        </p:nvSpPr>
        <p:spPr>
          <a:xfrm>
            <a:off x="4389120" y="4471416"/>
            <a:ext cx="822960" cy="384048"/>
          </a:xfrm>
          <a:prstGeom prst="rect">
            <a:avLst/>
          </a:prstGeom>
          <a:solidFill>
            <a:srgbClr val="FEF2F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1</a:t>
            </a:r>
          </a:p>
        </p:txBody>
      </p:sp>
      <p:sp>
        <p:nvSpPr>
          <p:cNvPr id="34" name="Rectangle 33"/>
          <p:cNvSpPr/>
          <p:nvPr/>
        </p:nvSpPr>
        <p:spPr>
          <a:xfrm>
            <a:off x="5212080" y="4471416"/>
            <a:ext cx="173736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Door alert</a:t>
            </a:r>
          </a:p>
        </p:txBody>
      </p:sp>
      <p:sp>
        <p:nvSpPr>
          <p:cNvPr id="35" name="Rectangle 34"/>
          <p:cNvSpPr/>
          <p:nvPr/>
        </p:nvSpPr>
        <p:spPr>
          <a:xfrm>
            <a:off x="1828800" y="4855464"/>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0</a:t>
            </a:r>
          </a:p>
        </p:txBody>
      </p:sp>
      <p:sp>
        <p:nvSpPr>
          <p:cNvPr id="36" name="Rectangle 35"/>
          <p:cNvSpPr/>
          <p:nvPr/>
        </p:nvSpPr>
        <p:spPr>
          <a:xfrm>
            <a:off x="2468880" y="4855464"/>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1</a:t>
            </a:r>
          </a:p>
        </p:txBody>
      </p:sp>
      <p:sp>
        <p:nvSpPr>
          <p:cNvPr id="37" name="Rectangle 36"/>
          <p:cNvSpPr/>
          <p:nvPr/>
        </p:nvSpPr>
        <p:spPr>
          <a:xfrm>
            <a:off x="3108960" y="4855464"/>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0</a:t>
            </a:r>
          </a:p>
        </p:txBody>
      </p:sp>
      <p:sp>
        <p:nvSpPr>
          <p:cNvPr id="38" name="Rectangle 37"/>
          <p:cNvSpPr/>
          <p:nvPr/>
        </p:nvSpPr>
        <p:spPr>
          <a:xfrm>
            <a:off x="3749040" y="4855464"/>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1</a:t>
            </a:r>
          </a:p>
        </p:txBody>
      </p:sp>
      <p:sp>
        <p:nvSpPr>
          <p:cNvPr id="39" name="Rectangle 38"/>
          <p:cNvSpPr/>
          <p:nvPr/>
        </p:nvSpPr>
        <p:spPr>
          <a:xfrm>
            <a:off x="4389120" y="4855464"/>
            <a:ext cx="822960" cy="384048"/>
          </a:xfrm>
          <a:prstGeom prst="rect">
            <a:avLst/>
          </a:prstGeom>
          <a:solidFill>
            <a:srgbClr val="FEF2F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1</a:t>
            </a:r>
          </a:p>
        </p:txBody>
      </p:sp>
      <p:sp>
        <p:nvSpPr>
          <p:cNvPr id="40" name="Rectangle 39"/>
          <p:cNvSpPr/>
          <p:nvPr/>
        </p:nvSpPr>
        <p:spPr>
          <a:xfrm>
            <a:off x="5212080" y="4855464"/>
            <a:ext cx="173736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Window alert</a:t>
            </a:r>
          </a:p>
        </p:txBody>
      </p:sp>
      <p:sp>
        <p:nvSpPr>
          <p:cNvPr id="41" name="Rectangle 40"/>
          <p:cNvSpPr/>
          <p:nvPr/>
        </p:nvSpPr>
        <p:spPr>
          <a:xfrm>
            <a:off x="1828800" y="5239512"/>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0</a:t>
            </a:r>
          </a:p>
        </p:txBody>
      </p:sp>
      <p:sp>
        <p:nvSpPr>
          <p:cNvPr id="42" name="Rectangle 41"/>
          <p:cNvSpPr/>
          <p:nvPr/>
        </p:nvSpPr>
        <p:spPr>
          <a:xfrm>
            <a:off x="2468880" y="5239512"/>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0</a:t>
            </a:r>
          </a:p>
        </p:txBody>
      </p:sp>
      <p:sp>
        <p:nvSpPr>
          <p:cNvPr id="43" name="Rectangle 42"/>
          <p:cNvSpPr/>
          <p:nvPr/>
        </p:nvSpPr>
        <p:spPr>
          <a:xfrm>
            <a:off x="3108960" y="5239512"/>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1</a:t>
            </a:r>
          </a:p>
        </p:txBody>
      </p:sp>
      <p:sp>
        <p:nvSpPr>
          <p:cNvPr id="44" name="Rectangle 43"/>
          <p:cNvSpPr/>
          <p:nvPr/>
        </p:nvSpPr>
        <p:spPr>
          <a:xfrm>
            <a:off x="3749040" y="5239512"/>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1</a:t>
            </a:r>
          </a:p>
        </p:txBody>
      </p:sp>
      <p:sp>
        <p:nvSpPr>
          <p:cNvPr id="45" name="Rectangle 44"/>
          <p:cNvSpPr/>
          <p:nvPr/>
        </p:nvSpPr>
        <p:spPr>
          <a:xfrm>
            <a:off x="4389120" y="5239512"/>
            <a:ext cx="822960" cy="384048"/>
          </a:xfrm>
          <a:prstGeom prst="rect">
            <a:avLst/>
          </a:prstGeom>
          <a:solidFill>
            <a:srgbClr val="FEF2F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1</a:t>
            </a:r>
          </a:p>
        </p:txBody>
      </p:sp>
      <p:sp>
        <p:nvSpPr>
          <p:cNvPr id="46" name="Rectangle 45"/>
          <p:cNvSpPr/>
          <p:nvPr/>
        </p:nvSpPr>
        <p:spPr>
          <a:xfrm>
            <a:off x="5212080" y="5239512"/>
            <a:ext cx="173736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Motion alert</a:t>
            </a:r>
          </a:p>
        </p:txBody>
      </p:sp>
      <p:sp>
        <p:nvSpPr>
          <p:cNvPr id="47" name="Rectangle 46"/>
          <p:cNvSpPr/>
          <p:nvPr/>
        </p:nvSpPr>
        <p:spPr>
          <a:xfrm>
            <a:off x="1828800" y="5623560"/>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1</a:t>
            </a:r>
          </a:p>
        </p:txBody>
      </p:sp>
      <p:sp>
        <p:nvSpPr>
          <p:cNvPr id="48" name="Rectangle 47"/>
          <p:cNvSpPr/>
          <p:nvPr/>
        </p:nvSpPr>
        <p:spPr>
          <a:xfrm>
            <a:off x="2468880" y="5623560"/>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0</a:t>
            </a:r>
          </a:p>
        </p:txBody>
      </p:sp>
      <p:sp>
        <p:nvSpPr>
          <p:cNvPr id="49" name="Rectangle 48"/>
          <p:cNvSpPr/>
          <p:nvPr/>
        </p:nvSpPr>
        <p:spPr>
          <a:xfrm>
            <a:off x="3108960" y="5623560"/>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0</a:t>
            </a:r>
          </a:p>
        </p:txBody>
      </p:sp>
      <p:sp>
        <p:nvSpPr>
          <p:cNvPr id="50" name="Rectangle 49"/>
          <p:cNvSpPr/>
          <p:nvPr/>
        </p:nvSpPr>
        <p:spPr>
          <a:xfrm>
            <a:off x="3749040" y="5623560"/>
            <a:ext cx="64008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0</a:t>
            </a:r>
          </a:p>
        </p:txBody>
      </p:sp>
      <p:sp>
        <p:nvSpPr>
          <p:cNvPr id="51" name="Rectangle 50"/>
          <p:cNvSpPr/>
          <p:nvPr/>
        </p:nvSpPr>
        <p:spPr>
          <a:xfrm>
            <a:off x="4389120" y="5623560"/>
            <a:ext cx="82296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0</a:t>
            </a:r>
          </a:p>
        </p:txBody>
      </p:sp>
      <p:sp>
        <p:nvSpPr>
          <p:cNvPr id="52" name="Rectangle 51"/>
          <p:cNvSpPr/>
          <p:nvPr/>
        </p:nvSpPr>
        <p:spPr>
          <a:xfrm>
            <a:off x="5212080" y="5623560"/>
            <a:ext cx="1737360"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E293B"/>
                </a:solidFill>
              </a:rPr>
              <a:t>Disarmed</a:t>
            </a:r>
          </a:p>
        </p:txBody>
      </p:sp>
      <p:sp>
        <p:nvSpPr>
          <p:cNvPr id="53" name="TextBox 52"/>
          <p:cNvSpPr txBox="1"/>
          <p:nvPr/>
        </p:nvSpPr>
        <p:spPr>
          <a:xfrm>
            <a:off x="10789920" y="6446520"/>
            <a:ext cx="914400" cy="228600"/>
          </a:xfrm>
          <a:prstGeom prst="rect">
            <a:avLst/>
          </a:prstGeom>
          <a:noFill/>
        </p:spPr>
        <p:txBody>
          <a:bodyPr wrap="none">
            <a:spAutoFit/>
          </a:bodyPr>
          <a:lstStyle/>
          <a:p>
            <a:pPr algn="r"/>
            <a:r>
              <a:rPr sz="900">
                <a:solidFill>
                  <a:srgbClr val="64748B"/>
                </a:solidFill>
              </a:rPr>
              <a:t>8/9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594360"/>
          </a:xfrm>
          <a:prstGeom prst="rect">
            <a:avLst/>
          </a:prstGeom>
          <a:noFill/>
        </p:spPr>
        <p:txBody>
          <a:bodyPr wrap="none">
            <a:spAutoFit/>
          </a:bodyPr>
          <a:lstStyle/>
          <a:p>
            <a:r>
              <a:rPr sz="2800" b="1">
                <a:solidFill>
                  <a:srgbClr val="0F1B30"/>
                </a:solidFill>
              </a:rPr>
              <a:t>8. ALU Connection &amp; Key Takeaways</a:t>
            </a:r>
          </a:p>
        </p:txBody>
      </p:sp>
      <p:sp>
        <p:nvSpPr>
          <p:cNvPr id="4" name="TextBox 3"/>
          <p:cNvSpPr txBox="1"/>
          <p:nvPr/>
        </p:nvSpPr>
        <p:spPr>
          <a:xfrm>
            <a:off x="566928" y="932688"/>
            <a:ext cx="10972800" cy="365760"/>
          </a:xfrm>
          <a:prstGeom prst="rect">
            <a:avLst/>
          </a:prstGeom>
          <a:noFill/>
        </p:spPr>
        <p:txBody>
          <a:bodyPr wrap="none">
            <a:spAutoFit/>
          </a:bodyPr>
          <a:lstStyle/>
          <a:p>
            <a:r>
              <a:rPr sz="1200">
                <a:solidFill>
                  <a:srgbClr val="64748B"/>
                </a:solidFill>
              </a:rPr>
              <a:t>Making decisions and doing maths with combinational logic.</a:t>
            </a:r>
          </a:p>
        </p:txBody>
      </p:sp>
      <p:sp>
        <p:nvSpPr>
          <p:cNvPr id="5" name="Rounded Rectangle 4"/>
          <p:cNvSpPr/>
          <p:nvPr/>
        </p:nvSpPr>
        <p:spPr>
          <a:xfrm>
            <a:off x="640080" y="1325880"/>
            <a:ext cx="3474720" cy="19202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25880"/>
            <a:ext cx="73152" cy="1920240"/>
          </a:xfrm>
          <a:prstGeom prst="rect">
            <a:avLst/>
          </a:prstGeom>
          <a:solidFill>
            <a:srgbClr val="23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472184"/>
            <a:ext cx="3154679" cy="411480"/>
          </a:xfrm>
          <a:prstGeom prst="rect">
            <a:avLst/>
          </a:prstGeom>
          <a:noFill/>
        </p:spPr>
        <p:txBody>
          <a:bodyPr wrap="none">
            <a:spAutoFit/>
          </a:bodyPr>
          <a:lstStyle/>
          <a:p>
            <a:r>
              <a:rPr sz="1800" b="1">
                <a:solidFill>
                  <a:srgbClr val="0F1B30"/>
                </a:solidFill>
              </a:rPr>
              <a:t>ALU — Arithmetic Logic Unit</a:t>
            </a:r>
          </a:p>
        </p:txBody>
      </p:sp>
      <p:sp>
        <p:nvSpPr>
          <p:cNvPr id="8" name="TextBox 7"/>
          <p:cNvSpPr txBox="1"/>
          <p:nvPr/>
        </p:nvSpPr>
        <p:spPr>
          <a:xfrm>
            <a:off x="822959" y="1947672"/>
            <a:ext cx="3154679" cy="1188720"/>
          </a:xfrm>
          <a:prstGeom prst="rect">
            <a:avLst/>
          </a:prstGeom>
          <a:noFill/>
        </p:spPr>
        <p:txBody>
          <a:bodyPr wrap="square">
            <a:spAutoFit/>
          </a:bodyPr>
          <a:lstStyle/>
          <a:p>
            <a:r>
              <a:rPr sz="1400">
                <a:solidFill>
                  <a:srgbClr val="1E293B"/>
                </a:solidFill>
              </a:rPr>
              <a:t>The ALU is a major combinational block in a CPU. It performs operations such as addition, subtraction, AND, OR and comparisons based on control inputs.</a:t>
            </a:r>
          </a:p>
        </p:txBody>
      </p:sp>
      <p:sp>
        <p:nvSpPr>
          <p:cNvPr id="9" name="Rounded Rectangle 8"/>
          <p:cNvSpPr/>
          <p:nvPr/>
        </p:nvSpPr>
        <p:spPr>
          <a:xfrm>
            <a:off x="640080" y="3566160"/>
            <a:ext cx="3474720" cy="17373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566160"/>
            <a:ext cx="73152" cy="1737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3712463"/>
            <a:ext cx="3154679" cy="411480"/>
          </a:xfrm>
          <a:prstGeom prst="rect">
            <a:avLst/>
          </a:prstGeom>
          <a:noFill/>
        </p:spPr>
        <p:txBody>
          <a:bodyPr wrap="none">
            <a:spAutoFit/>
          </a:bodyPr>
          <a:lstStyle/>
          <a:p>
            <a:r>
              <a:rPr sz="1700" b="1">
                <a:solidFill>
                  <a:srgbClr val="0F1B30"/>
                </a:solidFill>
              </a:rPr>
              <a:t>Connection to Module 2</a:t>
            </a:r>
          </a:p>
        </p:txBody>
      </p:sp>
      <p:sp>
        <p:nvSpPr>
          <p:cNvPr id="12" name="TextBox 11"/>
          <p:cNvSpPr txBox="1"/>
          <p:nvPr/>
        </p:nvSpPr>
        <p:spPr>
          <a:xfrm>
            <a:off x="822959" y="4187952"/>
            <a:ext cx="3154679" cy="1005839"/>
          </a:xfrm>
          <a:prstGeom prst="rect">
            <a:avLst/>
          </a:prstGeom>
          <a:noFill/>
        </p:spPr>
        <p:txBody>
          <a:bodyPr wrap="square">
            <a:spAutoFit/>
          </a:bodyPr>
          <a:lstStyle/>
          <a:p>
            <a:r>
              <a:rPr sz="1300">
                <a:solidFill>
                  <a:srgbClr val="1E293B"/>
                </a:solidFill>
              </a:rPr>
              <a:t>• K-maps simplify control logic
• Adders perform binary arithmetic
• Gates implement decisions
• Ripple-carry adders build wider arithmetic units</a:t>
            </a:r>
          </a:p>
        </p:txBody>
      </p:sp>
      <p:sp>
        <p:nvSpPr>
          <p:cNvPr id="13" name="Rounded Rectangle 12"/>
          <p:cNvSpPr/>
          <p:nvPr/>
        </p:nvSpPr>
        <p:spPr>
          <a:xfrm>
            <a:off x="4480560" y="1325880"/>
            <a:ext cx="7040880" cy="3977639"/>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325880"/>
            <a:ext cx="73152" cy="3977639"/>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1472184"/>
            <a:ext cx="6720840" cy="411480"/>
          </a:xfrm>
          <a:prstGeom prst="rect">
            <a:avLst/>
          </a:prstGeom>
          <a:noFill/>
        </p:spPr>
        <p:txBody>
          <a:bodyPr wrap="none">
            <a:spAutoFit/>
          </a:bodyPr>
          <a:lstStyle/>
          <a:p>
            <a:r>
              <a:rPr sz="1900" b="1">
                <a:solidFill>
                  <a:srgbClr val="0F1B30"/>
                </a:solidFill>
              </a:rPr>
              <a:t>Smart Security System — Final Design Summary</a:t>
            </a:r>
          </a:p>
        </p:txBody>
      </p:sp>
      <p:sp>
        <p:nvSpPr>
          <p:cNvPr id="16" name="TextBox 15"/>
          <p:cNvSpPr txBox="1"/>
          <p:nvPr/>
        </p:nvSpPr>
        <p:spPr>
          <a:xfrm>
            <a:off x="4663440" y="1947672"/>
            <a:ext cx="6720840" cy="3246120"/>
          </a:xfrm>
          <a:prstGeom prst="rect">
            <a:avLst/>
          </a:prstGeom>
          <a:noFill/>
        </p:spPr>
        <p:txBody>
          <a:bodyPr wrap="square">
            <a:spAutoFit/>
          </a:bodyPr>
          <a:lstStyle/>
          <a:p>
            <a:r>
              <a:rPr sz="1600">
                <a:solidFill>
                  <a:srgbClr val="1E293B"/>
                </a:solidFill>
              </a:rPr>
              <a:t>1. Sensors generate binary inputs.
2. Boolean logic combines current sensor states.
3. K-map simplification reduces hardware complexity.
4. AND/OR gates decide whether an intrusion condition exists.
5. The armed signal enables the alarm decision.
6. Simulation verifies safe and alert cases.
7. The same combinational principles scale to larger digital systems and ALU design.</a:t>
            </a:r>
          </a:p>
        </p:txBody>
      </p:sp>
      <p:sp>
        <p:nvSpPr>
          <p:cNvPr id="17" name="TextBox 16"/>
          <p:cNvSpPr txBox="1"/>
          <p:nvPr/>
        </p:nvSpPr>
        <p:spPr>
          <a:xfrm>
            <a:off x="4617720" y="5532120"/>
            <a:ext cx="6675120" cy="502920"/>
          </a:xfrm>
          <a:prstGeom prst="rect">
            <a:avLst/>
          </a:prstGeom>
          <a:noFill/>
        </p:spPr>
        <p:txBody>
          <a:bodyPr wrap="none">
            <a:spAutoFit/>
          </a:bodyPr>
          <a:lstStyle/>
          <a:p>
            <a:pPr algn="ctr"/>
            <a:r>
              <a:rPr sz="1800" b="1">
                <a:solidFill>
                  <a:srgbClr val="0F1B30"/>
                </a:solidFill>
              </a:rPr>
              <a:t>Final takeaway: Current inputs → Boolean decision → Immediate output</a:t>
            </a:r>
          </a:p>
        </p:txBody>
      </p:sp>
      <p:sp>
        <p:nvSpPr>
          <p:cNvPr id="18" name="TextBox 17"/>
          <p:cNvSpPr txBox="1"/>
          <p:nvPr/>
        </p:nvSpPr>
        <p:spPr>
          <a:xfrm>
            <a:off x="10789920" y="6446520"/>
            <a:ext cx="914400" cy="228600"/>
          </a:xfrm>
          <a:prstGeom prst="rect">
            <a:avLst/>
          </a:prstGeom>
          <a:noFill/>
        </p:spPr>
        <p:txBody>
          <a:bodyPr wrap="none">
            <a:spAutoFit/>
          </a:bodyPr>
          <a:lstStyle/>
          <a:p>
            <a:pPr algn="r"/>
            <a:r>
              <a:rPr sz="900">
                <a:solidFill>
                  <a:srgbClr val="64748B"/>
                </a:solidFill>
              </a:rPr>
              <a:t>9/9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3000" b="1">
                <a:solidFill>
                  <a:srgbClr val="0F1B30"/>
                </a:solidFill>
              </a:rPr>
              <a:t>9. Conclusion</a:t>
            </a:r>
          </a:p>
        </p:txBody>
      </p:sp>
      <p:sp>
        <p:nvSpPr>
          <p:cNvPr id="4" name="Rounded Rectangle 3"/>
          <p:cNvSpPr/>
          <p:nvPr/>
        </p:nvSpPr>
        <p:spPr>
          <a:xfrm>
            <a:off x="914400" y="1417320"/>
            <a:ext cx="10332720" cy="1234440"/>
          </a:xfrm>
          <a:prstGeom prst="roundRect">
            <a:avLst/>
          </a:prstGeom>
          <a:solidFill>
            <a:srgbClr val="0F1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rPr>
              <a:t>Combinational logic converts real-time sensor inputs into immediate security decisions.</a:t>
            </a:r>
          </a:p>
        </p:txBody>
      </p:sp>
      <p:sp>
        <p:nvSpPr>
          <p:cNvPr id="5" name="Rounded Rectangle 4"/>
          <p:cNvSpPr/>
          <p:nvPr/>
        </p:nvSpPr>
        <p:spPr>
          <a:xfrm>
            <a:off x="731520" y="3154680"/>
            <a:ext cx="1920240" cy="1965960"/>
          </a:xfrm>
          <a:prstGeom prst="roundRect">
            <a:avLst/>
          </a:prstGeom>
          <a:solidFill>
            <a:srgbClr val="CBD5E1"/>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F1B30"/>
                </a:solidFill>
              </a:rPr>
              <a:t>Combinational Logic</a:t>
            </a:r>
          </a:p>
          <a:p>
            <a:pPr algn="ctr"/>
            <a:r>
              <a:rPr sz="1100">
                <a:solidFill>
                  <a:srgbClr val="1E293B"/>
                </a:solidFill>
              </a:rPr>
              <a:t>The alarm depends only on the current sensor inputs.</a:t>
            </a:r>
          </a:p>
        </p:txBody>
      </p:sp>
      <p:sp>
        <p:nvSpPr>
          <p:cNvPr id="6" name="Rounded Rectangle 5"/>
          <p:cNvSpPr/>
          <p:nvPr/>
        </p:nvSpPr>
        <p:spPr>
          <a:xfrm>
            <a:off x="3063240" y="3154680"/>
            <a:ext cx="1920240" cy="1965960"/>
          </a:xfrm>
          <a:prstGeom prst="roundRect">
            <a:avLst/>
          </a:prstGeom>
          <a:solidFill>
            <a:srgbClr val="CBD5E1"/>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F1B30"/>
                </a:solidFill>
              </a:rPr>
              <a:t>K-Maps</a:t>
            </a:r>
          </a:p>
          <a:p>
            <a:pPr algn="ctr"/>
            <a:r>
              <a:rPr sz="1100">
                <a:solidFill>
                  <a:srgbClr val="1E293B"/>
                </a:solidFill>
              </a:rPr>
              <a:t>Logic can be simplified to reduce gates, cost, delay and power.</a:t>
            </a:r>
          </a:p>
        </p:txBody>
      </p:sp>
      <p:sp>
        <p:nvSpPr>
          <p:cNvPr id="7" name="Rounded Rectangle 6"/>
          <p:cNvSpPr/>
          <p:nvPr/>
        </p:nvSpPr>
        <p:spPr>
          <a:xfrm>
            <a:off x="5394960" y="3154680"/>
            <a:ext cx="1920240" cy="1965960"/>
          </a:xfrm>
          <a:prstGeom prst="roundRect">
            <a:avLst/>
          </a:prstGeom>
          <a:solidFill>
            <a:srgbClr val="CBD5E1"/>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F1B30"/>
                </a:solidFill>
              </a:rPr>
              <a:t>Arithmetic Circuits</a:t>
            </a:r>
          </a:p>
          <a:p>
            <a:pPr algn="ctr"/>
            <a:r>
              <a:rPr sz="1100">
                <a:solidFill>
                  <a:srgbClr val="1E293B"/>
                </a:solidFill>
              </a:rPr>
              <a:t>Half adders, full adders and ripple-carry adders demonstrate digital computation.</a:t>
            </a:r>
          </a:p>
        </p:txBody>
      </p:sp>
      <p:sp>
        <p:nvSpPr>
          <p:cNvPr id="8" name="Rounded Rectangle 7"/>
          <p:cNvSpPr/>
          <p:nvPr/>
        </p:nvSpPr>
        <p:spPr>
          <a:xfrm>
            <a:off x="7726679" y="3154680"/>
            <a:ext cx="1920240" cy="1965960"/>
          </a:xfrm>
          <a:prstGeom prst="roundRect">
            <a:avLst/>
          </a:prstGeom>
          <a:solidFill>
            <a:srgbClr val="CBD5E1"/>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F1B30"/>
                </a:solidFill>
              </a:rPr>
              <a:t>Smart Security</a:t>
            </a:r>
          </a:p>
          <a:p>
            <a:pPr algn="ctr"/>
            <a:r>
              <a:rPr sz="1100">
                <a:solidFill>
                  <a:srgbClr val="1E293B"/>
                </a:solidFill>
              </a:rPr>
              <a:t>Door, window, motion and armed signals can be combined into a practical alarm system.</a:t>
            </a:r>
          </a:p>
        </p:txBody>
      </p:sp>
      <p:sp>
        <p:nvSpPr>
          <p:cNvPr id="9" name="Rounded Rectangle 8"/>
          <p:cNvSpPr/>
          <p:nvPr/>
        </p:nvSpPr>
        <p:spPr>
          <a:xfrm>
            <a:off x="10058400" y="3154680"/>
            <a:ext cx="1417320" cy="1965960"/>
          </a:xfrm>
          <a:prstGeom prst="roundRect">
            <a:avLst/>
          </a:prstGeom>
          <a:solidFill>
            <a:srgbClr val="CBD5E1"/>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F1B30"/>
                </a:solidFill>
              </a:rPr>
              <a:t>ALU Connection</a:t>
            </a:r>
          </a:p>
          <a:p>
            <a:pPr algn="ctr"/>
            <a:r>
              <a:rPr sz="1100">
                <a:solidFill>
                  <a:srgbClr val="1E293B"/>
                </a:solidFill>
              </a:rPr>
              <a:t>The same combinational principles form the basis of arithmetic and logic operations in CPUs.</a:t>
            </a:r>
          </a:p>
        </p:txBody>
      </p:sp>
      <p:sp>
        <p:nvSpPr>
          <p:cNvPr id="10" name="TextBox 9"/>
          <p:cNvSpPr txBox="1"/>
          <p:nvPr/>
        </p:nvSpPr>
        <p:spPr>
          <a:xfrm>
            <a:off x="914400" y="5623560"/>
            <a:ext cx="10332720" cy="594360"/>
          </a:xfrm>
          <a:prstGeom prst="rect">
            <a:avLst/>
          </a:prstGeom>
          <a:noFill/>
        </p:spPr>
        <p:txBody>
          <a:bodyPr wrap="none">
            <a:spAutoFit/>
          </a:bodyPr>
          <a:lstStyle/>
          <a:p>
            <a:pPr algn="ctr"/>
            <a:r>
              <a:rPr sz="2000" b="1">
                <a:solidFill>
                  <a:srgbClr val="10B981"/>
                </a:solidFill>
              </a:rPr>
              <a:t>Final takeaway: Current Inputs → Boolean Decision → Immediate Output</a:t>
            </a:r>
          </a:p>
        </p:txBody>
      </p:sp>
      <p:sp>
        <p:nvSpPr>
          <p:cNvPr id="11" name="TextBox 10"/>
          <p:cNvSpPr txBox="1"/>
          <p:nvPr/>
        </p:nvSpPr>
        <p:spPr>
          <a:xfrm>
            <a:off x="10789920" y="6446520"/>
            <a:ext cx="914400" cy="228600"/>
          </a:xfrm>
          <a:prstGeom prst="rect">
            <a:avLst/>
          </a:prstGeom>
          <a:noFill/>
        </p:spPr>
        <p:txBody>
          <a:bodyPr wrap="none">
            <a:spAutoFit/>
          </a:bodyPr>
          <a:lstStyle/>
          <a:p>
            <a:pPr algn="r"/>
            <a:r>
              <a:rPr sz="900">
                <a:solidFill>
                  <a:srgbClr val="64748B"/>
                </a:solidFill>
              </a:rPr>
              <a:t>10/11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B30"/>
        </a:solidFill>
        <a:effectLst/>
      </p:bgPr>
    </p:bg>
    <p:spTree>
      <p:nvGrpSpPr>
        <p:cNvPr id="1" name=""/>
        <p:cNvGrpSpPr/>
        <p:nvPr/>
      </p:nvGrpSpPr>
      <p:grpSpPr/>
      <p:sp>
        <p:nvSpPr>
          <p:cNvPr id="2" name="Rectangle 1"/>
          <p:cNvSpPr/>
          <p:nvPr/>
        </p:nvSpPr>
        <p:spPr>
          <a:xfrm>
            <a:off x="594360" y="640080"/>
            <a:ext cx="109728" cy="539496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914400"/>
            <a:ext cx="10332720" cy="1188720"/>
          </a:xfrm>
          <a:prstGeom prst="rect">
            <a:avLst/>
          </a:prstGeom>
          <a:noFill/>
        </p:spPr>
        <p:txBody>
          <a:bodyPr wrap="none">
            <a:spAutoFit/>
          </a:bodyPr>
          <a:lstStyle/>
          <a:p>
            <a:pPr algn="ctr"/>
            <a:r>
              <a:rPr sz="4400" b="1">
                <a:solidFill>
                  <a:srgbClr val="FFFFFF"/>
                </a:solidFill>
              </a:rPr>
              <a:t>THANK YOU</a:t>
            </a:r>
          </a:p>
        </p:txBody>
      </p:sp>
      <p:sp>
        <p:nvSpPr>
          <p:cNvPr id="4" name="TextBox 3"/>
          <p:cNvSpPr txBox="1"/>
          <p:nvPr/>
        </p:nvSpPr>
        <p:spPr>
          <a:xfrm>
            <a:off x="1097280" y="2148840"/>
            <a:ext cx="10058400" cy="685800"/>
          </a:xfrm>
          <a:prstGeom prst="rect">
            <a:avLst/>
          </a:prstGeom>
          <a:noFill/>
        </p:spPr>
        <p:txBody>
          <a:bodyPr wrap="none">
            <a:spAutoFit/>
          </a:bodyPr>
          <a:lstStyle/>
          <a:p>
            <a:pPr algn="ctr"/>
            <a:r>
              <a:rPr sz="2200">
                <a:solidFill>
                  <a:srgbClr val="7DD3FC"/>
                </a:solidFill>
              </a:rPr>
              <a:t>Smart Home Security &amp; Intruder Detection System</a:t>
            </a:r>
          </a:p>
        </p:txBody>
      </p:sp>
      <p:sp>
        <p:nvSpPr>
          <p:cNvPr id="5" name="TextBox 4"/>
          <p:cNvSpPr txBox="1"/>
          <p:nvPr/>
        </p:nvSpPr>
        <p:spPr>
          <a:xfrm>
            <a:off x="1828800" y="3154680"/>
            <a:ext cx="8503920" cy="640080"/>
          </a:xfrm>
          <a:prstGeom prst="rect">
            <a:avLst/>
          </a:prstGeom>
          <a:noFill/>
        </p:spPr>
        <p:txBody>
          <a:bodyPr wrap="none">
            <a:spAutoFit/>
          </a:bodyPr>
          <a:lstStyle/>
          <a:p>
            <a:pPr algn="ctr"/>
            <a:r>
              <a:rPr sz="2400" b="1">
                <a:solidFill>
                  <a:srgbClr val="10B981"/>
                </a:solidFill>
              </a:rPr>
              <a:t>DONE BY — BATCH 6</a:t>
            </a:r>
          </a:p>
        </p:txBody>
      </p:sp>
      <p:sp>
        <p:nvSpPr>
          <p:cNvPr id="6" name="TextBox 5"/>
          <p:cNvSpPr txBox="1"/>
          <p:nvPr/>
        </p:nvSpPr>
        <p:spPr>
          <a:xfrm>
            <a:off x="1828800" y="3886200"/>
            <a:ext cx="8503920" cy="1325880"/>
          </a:xfrm>
          <a:prstGeom prst="rect">
            <a:avLst/>
          </a:prstGeom>
          <a:noFill/>
        </p:spPr>
        <p:txBody>
          <a:bodyPr wrap="none" anchor="ctr">
            <a:spAutoFit/>
          </a:bodyPr>
          <a:lstStyle/>
          <a:p>
            <a:pPr algn="ctr"/>
            <a:r>
              <a:rPr sz="1600" b="1">
                <a:solidFill>
                  <a:srgbClr val="CBD5E1"/>
                </a:solidFill>
              </a:rPr>
              <a:t>Roll Numbers</a:t>
            </a:r>
          </a:p>
          <a:p>
            <a:pPr algn="ctr"/>
            <a:r>
              <a:rPr sz="1700" b="1">
                <a:solidFill>
                  <a:srgbClr val="FFFFFF"/>
                </a:solidFill>
              </a:rPr>
              <a:t>2620030506   •   2620030518   •   2620030525</a:t>
            </a:r>
          </a:p>
          <a:p>
            <a:pPr algn="ctr"/>
            <a:r>
              <a:rPr sz="1700" b="1">
                <a:solidFill>
                  <a:srgbClr val="FFFFFF"/>
                </a:solidFill>
              </a:rPr>
              <a:t>2620030532   •   2620030526</a:t>
            </a:r>
          </a:p>
        </p:txBody>
      </p:sp>
      <p:sp>
        <p:nvSpPr>
          <p:cNvPr id="7" name="TextBox 6"/>
          <p:cNvSpPr txBox="1"/>
          <p:nvPr/>
        </p:nvSpPr>
        <p:spPr>
          <a:xfrm>
            <a:off x="1828800" y="5486400"/>
            <a:ext cx="8503920" cy="502920"/>
          </a:xfrm>
          <a:prstGeom prst="rect">
            <a:avLst/>
          </a:prstGeom>
          <a:noFill/>
        </p:spPr>
        <p:txBody>
          <a:bodyPr wrap="none">
            <a:spAutoFit/>
          </a:bodyPr>
          <a:lstStyle/>
          <a:p>
            <a:pPr algn="ctr"/>
            <a:r>
              <a:rPr sz="1800">
                <a:solidFill>
                  <a:srgbClr val="CBD5E1"/>
                </a:solidFill>
              </a:rPr>
              <a:t>Questions &amp; Discussion</a:t>
            </a:r>
          </a:p>
        </p:txBody>
      </p:sp>
      <p:sp>
        <p:nvSpPr>
          <p:cNvPr id="8" name="TextBox 7"/>
          <p:cNvSpPr txBox="1"/>
          <p:nvPr/>
        </p:nvSpPr>
        <p:spPr>
          <a:xfrm>
            <a:off x="10789920" y="6446520"/>
            <a:ext cx="914400" cy="228600"/>
          </a:xfrm>
          <a:prstGeom prst="rect">
            <a:avLst/>
          </a:prstGeom>
          <a:noFill/>
        </p:spPr>
        <p:txBody>
          <a:bodyPr wrap="none">
            <a:spAutoFit/>
          </a:bodyPr>
          <a:lstStyle/>
          <a:p>
            <a:pPr algn="r"/>
            <a:r>
              <a:rPr sz="900">
                <a:solidFill>
                  <a:srgbClr val="94A3B8"/>
                </a:solidFill>
              </a:rPr>
              <a:t>11/11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94360"/>
          </a:xfrm>
          <a:prstGeom prst="rect">
            <a:avLst/>
          </a:prstGeom>
          <a:noFill/>
        </p:spPr>
        <p:txBody>
          <a:bodyPr wrap="none">
            <a:spAutoFit/>
          </a:bodyPr>
          <a:lstStyle/>
          <a:p>
            <a:r>
              <a:rPr sz="2700" b="1">
                <a:solidFill>
                  <a:srgbClr val="0F1B30"/>
                </a:solidFill>
              </a:rPr>
              <a:t>9. Logisim Circuit Diagram — Smart Home Intruder Detection</a:t>
            </a:r>
          </a:p>
        </p:txBody>
      </p:sp>
      <p:sp>
        <p:nvSpPr>
          <p:cNvPr id="4" name="TextBox 3"/>
          <p:cNvSpPr txBox="1"/>
          <p:nvPr/>
        </p:nvSpPr>
        <p:spPr>
          <a:xfrm>
            <a:off x="530352" y="914400"/>
            <a:ext cx="10972800" cy="365760"/>
          </a:xfrm>
          <a:prstGeom prst="rect">
            <a:avLst/>
          </a:prstGeom>
          <a:noFill/>
        </p:spPr>
        <p:txBody>
          <a:bodyPr wrap="none">
            <a:spAutoFit/>
          </a:bodyPr>
          <a:lstStyle/>
          <a:p>
            <a:r>
              <a:rPr sz="1400">
                <a:solidFill>
                  <a:srgbClr val="64748B"/>
                </a:solidFill>
              </a:rPr>
              <a:t>Combinational implementation of  ALARM = A(D + W + M)</a:t>
            </a:r>
          </a:p>
        </p:txBody>
      </p:sp>
      <p:sp>
        <p:nvSpPr>
          <p:cNvPr id="5" name="Rounded Rectangle 4"/>
          <p:cNvSpPr/>
          <p:nvPr/>
        </p:nvSpPr>
        <p:spPr>
          <a:xfrm>
            <a:off x="594360" y="1691640"/>
            <a:ext cx="1325880" cy="59436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D  Door</a:t>
            </a:r>
          </a:p>
        </p:txBody>
      </p:sp>
      <p:sp>
        <p:nvSpPr>
          <p:cNvPr id="6" name="Rounded Rectangle 5"/>
          <p:cNvSpPr/>
          <p:nvPr/>
        </p:nvSpPr>
        <p:spPr>
          <a:xfrm>
            <a:off x="594360" y="2606040"/>
            <a:ext cx="1325880" cy="59436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W  Window</a:t>
            </a:r>
          </a:p>
        </p:txBody>
      </p:sp>
      <p:sp>
        <p:nvSpPr>
          <p:cNvPr id="7" name="Rounded Rectangle 6"/>
          <p:cNvSpPr/>
          <p:nvPr/>
        </p:nvSpPr>
        <p:spPr>
          <a:xfrm>
            <a:off x="594360" y="3520440"/>
            <a:ext cx="1325880" cy="59436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M  Motion</a:t>
            </a:r>
          </a:p>
        </p:txBody>
      </p:sp>
      <p:sp>
        <p:nvSpPr>
          <p:cNvPr id="8" name="Rounded Rectangle 7"/>
          <p:cNvSpPr/>
          <p:nvPr/>
        </p:nvSpPr>
        <p:spPr>
          <a:xfrm>
            <a:off x="594360" y="4709160"/>
            <a:ext cx="1325880" cy="59436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A  Armed</a:t>
            </a:r>
          </a:p>
        </p:txBody>
      </p:sp>
      <p:sp>
        <p:nvSpPr>
          <p:cNvPr id="9" name="Rounded Rectangle 8"/>
          <p:cNvSpPr/>
          <p:nvPr/>
        </p:nvSpPr>
        <p:spPr>
          <a:xfrm>
            <a:off x="2880360" y="2514600"/>
            <a:ext cx="1417320" cy="9601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rPr>
              <a:t>OR</a:t>
            </a:r>
          </a:p>
        </p:txBody>
      </p:sp>
      <p:sp>
        <p:nvSpPr>
          <p:cNvPr id="10" name="Rounded Rectangle 9"/>
          <p:cNvSpPr/>
          <p:nvPr/>
        </p:nvSpPr>
        <p:spPr>
          <a:xfrm>
            <a:off x="5623560" y="2788920"/>
            <a:ext cx="1508760" cy="9601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rPr>
              <a:t>AND</a:t>
            </a:r>
          </a:p>
        </p:txBody>
      </p:sp>
      <p:sp>
        <p:nvSpPr>
          <p:cNvPr id="11" name="Rounded Rectangle 10"/>
          <p:cNvSpPr/>
          <p:nvPr/>
        </p:nvSpPr>
        <p:spPr>
          <a:xfrm>
            <a:off x="8458200" y="1965960"/>
            <a:ext cx="1600200" cy="685800"/>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rPr>
              <a:t>ALARM</a:t>
            </a:r>
          </a:p>
        </p:txBody>
      </p:sp>
      <p:sp>
        <p:nvSpPr>
          <p:cNvPr id="12" name="Rounded Rectangle 11"/>
          <p:cNvSpPr/>
          <p:nvPr/>
        </p:nvSpPr>
        <p:spPr>
          <a:xfrm>
            <a:off x="8458200" y="3246120"/>
            <a:ext cx="1600200" cy="68580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rPr>
              <a:t>LED</a:t>
            </a:r>
          </a:p>
        </p:txBody>
      </p:sp>
      <p:sp>
        <p:nvSpPr>
          <p:cNvPr id="13" name="Rounded Rectangle 12"/>
          <p:cNvSpPr/>
          <p:nvPr/>
        </p:nvSpPr>
        <p:spPr>
          <a:xfrm>
            <a:off x="8458200" y="4526280"/>
            <a:ext cx="1600200" cy="685800"/>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BUZZER</a:t>
            </a:r>
          </a:p>
        </p:txBody>
      </p:sp>
      <p:cxnSp>
        <p:nvCxnSpPr>
          <p:cNvPr id="14" name="Connector 13"/>
          <p:cNvCxnSpPr/>
          <p:nvPr/>
        </p:nvCxnSpPr>
        <p:spPr>
          <a:xfrm>
            <a:off x="1920240" y="1993392"/>
            <a:ext cx="960120" cy="795528"/>
          </a:xfrm>
          <a:prstGeom prst="line">
            <a:avLst/>
          </a:prstGeom>
          <a:ln w="31750">
            <a:solidFill>
              <a:srgbClr val="0EA5E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920240" y="2907792"/>
            <a:ext cx="960120" cy="91440"/>
          </a:xfrm>
          <a:prstGeom prst="line">
            <a:avLst/>
          </a:prstGeom>
          <a:ln w="31750">
            <a:solidFill>
              <a:srgbClr val="0EA5E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920240" y="3200400"/>
            <a:ext cx="960120" cy="621791"/>
          </a:xfrm>
          <a:prstGeom prst="line">
            <a:avLst/>
          </a:prstGeom>
          <a:ln w="31750">
            <a:solidFill>
              <a:srgbClr val="0EA5E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297680" y="2999232"/>
            <a:ext cx="1325880" cy="246888"/>
          </a:xfrm>
          <a:prstGeom prst="line">
            <a:avLst/>
          </a:prstGeom>
          <a:ln w="3556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920240" y="5010912"/>
            <a:ext cx="2880360" cy="0"/>
          </a:xfrm>
          <a:prstGeom prst="line">
            <a:avLst/>
          </a:prstGeom>
          <a:ln w="31750">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4800600" y="3703320"/>
            <a:ext cx="0" cy="1307592"/>
          </a:xfrm>
          <a:prstGeom prst="line">
            <a:avLst/>
          </a:prstGeom>
          <a:ln w="31750">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800600" y="3703320"/>
            <a:ext cx="822960" cy="0"/>
          </a:xfrm>
          <a:prstGeom prst="line">
            <a:avLst/>
          </a:prstGeom>
          <a:ln w="31750">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132320" y="3273552"/>
            <a:ext cx="685800" cy="0"/>
          </a:xfrm>
          <a:prstGeom prst="line">
            <a:avLst/>
          </a:prstGeom>
          <a:ln w="35560">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818120" y="2304288"/>
            <a:ext cx="0" cy="969264"/>
          </a:xfrm>
          <a:prstGeom prst="line">
            <a:avLst/>
          </a:prstGeom>
          <a:ln w="29209">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818120" y="3273552"/>
            <a:ext cx="0" cy="310896"/>
          </a:xfrm>
          <a:prstGeom prst="line">
            <a:avLst/>
          </a:prstGeom>
          <a:ln w="29209">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818120" y="3273552"/>
            <a:ext cx="0" cy="1591056"/>
          </a:xfrm>
          <a:prstGeom prst="line">
            <a:avLst/>
          </a:prstGeom>
          <a:ln w="29209">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818120" y="2304288"/>
            <a:ext cx="640080" cy="0"/>
          </a:xfrm>
          <a:prstGeom prst="line">
            <a:avLst/>
          </a:prstGeom>
          <a:ln w="29209">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18120" y="3584448"/>
            <a:ext cx="640080" cy="0"/>
          </a:xfrm>
          <a:prstGeom prst="line">
            <a:avLst/>
          </a:prstGeom>
          <a:ln w="29209">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818120" y="4864608"/>
            <a:ext cx="640080" cy="0"/>
          </a:xfrm>
          <a:prstGeom prst="line">
            <a:avLst/>
          </a:prstGeom>
          <a:ln w="29209">
            <a:solidFill>
              <a:srgbClr val="10B981"/>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148840" y="1737360"/>
            <a:ext cx="1005840" cy="274320"/>
          </a:xfrm>
          <a:prstGeom prst="rect">
            <a:avLst/>
          </a:prstGeom>
          <a:noFill/>
        </p:spPr>
        <p:txBody>
          <a:bodyPr wrap="none">
            <a:spAutoFit/>
          </a:bodyPr>
          <a:lstStyle/>
          <a:p>
            <a:pPr algn="ctr"/>
            <a:r>
              <a:rPr sz="1000" b="1">
                <a:solidFill>
                  <a:srgbClr val="64748B"/>
                </a:solidFill>
              </a:rPr>
              <a:t>D</a:t>
            </a:r>
          </a:p>
        </p:txBody>
      </p:sp>
      <p:sp>
        <p:nvSpPr>
          <p:cNvPr id="29" name="TextBox 28"/>
          <p:cNvSpPr txBox="1"/>
          <p:nvPr/>
        </p:nvSpPr>
        <p:spPr>
          <a:xfrm>
            <a:off x="2148840" y="2651760"/>
            <a:ext cx="1005840" cy="274320"/>
          </a:xfrm>
          <a:prstGeom prst="rect">
            <a:avLst/>
          </a:prstGeom>
          <a:noFill/>
        </p:spPr>
        <p:txBody>
          <a:bodyPr wrap="none">
            <a:spAutoFit/>
          </a:bodyPr>
          <a:lstStyle/>
          <a:p>
            <a:pPr algn="ctr"/>
            <a:r>
              <a:rPr sz="1000" b="1">
                <a:solidFill>
                  <a:srgbClr val="64748B"/>
                </a:solidFill>
              </a:rPr>
              <a:t>W</a:t>
            </a:r>
          </a:p>
        </p:txBody>
      </p:sp>
      <p:sp>
        <p:nvSpPr>
          <p:cNvPr id="30" name="TextBox 29"/>
          <p:cNvSpPr txBox="1"/>
          <p:nvPr/>
        </p:nvSpPr>
        <p:spPr>
          <a:xfrm>
            <a:off x="2148840" y="3566160"/>
            <a:ext cx="1005840" cy="274320"/>
          </a:xfrm>
          <a:prstGeom prst="rect">
            <a:avLst/>
          </a:prstGeom>
          <a:noFill/>
        </p:spPr>
        <p:txBody>
          <a:bodyPr wrap="none">
            <a:spAutoFit/>
          </a:bodyPr>
          <a:lstStyle/>
          <a:p>
            <a:pPr algn="ctr"/>
            <a:r>
              <a:rPr sz="1000" b="1">
                <a:solidFill>
                  <a:srgbClr val="64748B"/>
                </a:solidFill>
              </a:rPr>
              <a:t>M</a:t>
            </a:r>
          </a:p>
        </p:txBody>
      </p:sp>
      <p:sp>
        <p:nvSpPr>
          <p:cNvPr id="31" name="TextBox 30"/>
          <p:cNvSpPr txBox="1"/>
          <p:nvPr/>
        </p:nvSpPr>
        <p:spPr>
          <a:xfrm>
            <a:off x="4983480" y="4617720"/>
            <a:ext cx="1005840" cy="274320"/>
          </a:xfrm>
          <a:prstGeom prst="rect">
            <a:avLst/>
          </a:prstGeom>
          <a:noFill/>
        </p:spPr>
        <p:txBody>
          <a:bodyPr wrap="none">
            <a:spAutoFit/>
          </a:bodyPr>
          <a:lstStyle/>
          <a:p>
            <a:pPr algn="ctr"/>
            <a:r>
              <a:rPr sz="1000" b="1">
                <a:solidFill>
                  <a:srgbClr val="64748B"/>
                </a:solidFill>
              </a:rPr>
              <a:t>A</a:t>
            </a:r>
          </a:p>
        </p:txBody>
      </p:sp>
      <p:sp>
        <p:nvSpPr>
          <p:cNvPr id="32" name="TextBox 31"/>
          <p:cNvSpPr txBox="1"/>
          <p:nvPr/>
        </p:nvSpPr>
        <p:spPr>
          <a:xfrm>
            <a:off x="4709160" y="2743200"/>
            <a:ext cx="1005840" cy="274320"/>
          </a:xfrm>
          <a:prstGeom prst="rect">
            <a:avLst/>
          </a:prstGeom>
          <a:noFill/>
        </p:spPr>
        <p:txBody>
          <a:bodyPr wrap="none">
            <a:spAutoFit/>
          </a:bodyPr>
          <a:lstStyle/>
          <a:p>
            <a:pPr algn="ctr"/>
            <a:r>
              <a:rPr sz="1000" b="1">
                <a:solidFill>
                  <a:srgbClr val="64748B"/>
                </a:solidFill>
              </a:rPr>
              <a:t>Intrusion</a:t>
            </a:r>
          </a:p>
        </p:txBody>
      </p:sp>
      <p:sp>
        <p:nvSpPr>
          <p:cNvPr id="33" name="TextBox 32"/>
          <p:cNvSpPr txBox="1"/>
          <p:nvPr/>
        </p:nvSpPr>
        <p:spPr>
          <a:xfrm>
            <a:off x="7909560" y="1783080"/>
            <a:ext cx="1005840" cy="274320"/>
          </a:xfrm>
          <a:prstGeom prst="rect">
            <a:avLst/>
          </a:prstGeom>
          <a:noFill/>
        </p:spPr>
        <p:txBody>
          <a:bodyPr wrap="none">
            <a:spAutoFit/>
          </a:bodyPr>
          <a:lstStyle/>
          <a:p>
            <a:pPr algn="ctr"/>
            <a:r>
              <a:rPr sz="1000" b="1">
                <a:solidFill>
                  <a:srgbClr val="64748B"/>
                </a:solidFill>
              </a:rPr>
              <a:t>Alarm output</a:t>
            </a:r>
          </a:p>
        </p:txBody>
      </p:sp>
      <p:sp>
        <p:nvSpPr>
          <p:cNvPr id="34" name="Rounded Rectangle 33"/>
          <p:cNvSpPr/>
          <p:nvPr/>
        </p:nvSpPr>
        <p:spPr>
          <a:xfrm>
            <a:off x="594360" y="5532120"/>
            <a:ext cx="10424160" cy="6858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5641848"/>
            <a:ext cx="9966960" cy="457200"/>
          </a:xfrm>
          <a:prstGeom prst="rect">
            <a:avLst/>
          </a:prstGeom>
          <a:noFill/>
        </p:spPr>
        <p:txBody>
          <a:bodyPr wrap="none">
            <a:spAutoFit/>
          </a:bodyPr>
          <a:lstStyle/>
          <a:p>
            <a:pPr algn="ctr"/>
            <a:r>
              <a:rPr sz="1300">
                <a:solidFill>
                  <a:srgbClr val="1E293B"/>
                </a:solidFill>
              </a:rPr>
              <a:t>Logisim implementation: 3-input OR gate → 2-input AND gate • Inputs are switches • Outputs can drive LED/Output pins and a buzzer indicator</a:t>
            </a:r>
          </a:p>
        </p:txBody>
      </p:sp>
      <p:sp>
        <p:nvSpPr>
          <p:cNvPr id="36" name="TextBox 35"/>
          <p:cNvSpPr txBox="1"/>
          <p:nvPr/>
        </p:nvSpPr>
        <p:spPr>
          <a:xfrm>
            <a:off x="10789920" y="6446520"/>
            <a:ext cx="914400" cy="228600"/>
          </a:xfrm>
          <a:prstGeom prst="rect">
            <a:avLst/>
          </a:prstGeom>
          <a:noFill/>
        </p:spPr>
        <p:txBody>
          <a:bodyPr wrap="none">
            <a:spAutoFit/>
          </a:bodyPr>
          <a:lstStyle/>
          <a:p>
            <a:pPr algn="r"/>
            <a:r>
              <a:rPr sz="900">
                <a:solidFill>
                  <a:srgbClr val="64748B"/>
                </a:solidFill>
              </a:rPr>
              <a:t>10/12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