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25" autoAdjust="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72AFA-23F4-4C8D-91B9-C55C15522295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AA394-111E-4AD9-A30F-20976FFE1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9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93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279" y="3131344"/>
            <a:ext cx="685800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1432398"/>
            <a:ext cx="2943225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700" y="1812131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Poppins"/>
              </a:rPr>
              <a:t>Smart Home Security &amp; Intruder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288381"/>
            <a:ext cx="111252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38BDF8"/>
                </a:solidFill>
                <a:latin typeface="Lato SemiBold"/>
              </a:rPr>
              <a:t>Design and Simulation Using 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674143"/>
            <a:ext cx="11125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94A3B8"/>
                </a:solidFill>
                <a:latin typeface="Lato"/>
              </a:rPr>
              <a:t>Course:</a:t>
            </a:r>
            <a:r>
              <a:rPr sz="1050" b="0" i="0" u="none">
                <a:solidFill>
                  <a:srgbClr val="94A3B8"/>
                </a:solidFill>
                <a:latin typeface="Lato"/>
              </a:rPr>
              <a:t> Digital Logic Design  |  </a:t>
            </a:r>
            <a:r>
              <a:rPr sz="1050" b="1" i="0" u="none">
                <a:solidFill>
                  <a:srgbClr val="94A3B8"/>
                </a:solidFill>
                <a:latin typeface="Lato"/>
              </a:rPr>
              <a:t>Group:</a:t>
            </a:r>
            <a:r>
              <a:rPr sz="1050" b="0" i="0" u="none">
                <a:solidFill>
                  <a:srgbClr val="94A3B8"/>
                </a:solidFill>
                <a:latin typeface="Lato"/>
              </a:rPr>
              <a:t> Group 6  |  </a:t>
            </a:r>
            <a:r>
              <a:rPr sz="1050" b="1" i="0" u="none">
                <a:solidFill>
                  <a:srgbClr val="94A3B8"/>
                </a:solidFill>
                <a:latin typeface="Lato"/>
              </a:rPr>
              <a:t>Topic:</a:t>
            </a:r>
            <a:r>
              <a:rPr sz="1050" b="0" i="0" u="none">
                <a:solidFill>
                  <a:srgbClr val="94A3B8"/>
                </a:solidFill>
                <a:latin typeface="Lato"/>
              </a:rPr>
              <a:t> Real-time combinational intruder detection 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5573" y="3169443"/>
            <a:ext cx="6820852" cy="2476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Poppins SemiBold"/>
              </a:rPr>
              <a:t>Project Team Members (Group 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7975" y="3445668"/>
            <a:ext cx="6496050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47975" y="3531394"/>
          <a:ext cx="5765949" cy="1747839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3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306"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38BDF8"/>
                          </a:solidFill>
                        </a:rPr>
                        <a:t>Sl. No.</a:t>
                      </a:r>
                      <a:endParaRPr sz="975" b="0" i="0" u="none">
                        <a:solidFill>
                          <a:srgbClr val="38BDF8"/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u="none" dirty="0">
                          <a:solidFill>
                            <a:srgbClr val="38BDF8"/>
                          </a:solidFill>
                        </a:rPr>
                        <a:t>Member Roll No.</a:t>
                      </a:r>
                      <a:endParaRPr sz="975" b="0" i="0" u="none" dirty="0">
                        <a:solidFill>
                          <a:srgbClr val="38BDF8"/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u="none" dirty="0">
                          <a:solidFill>
                            <a:srgbClr val="38BDF8"/>
                          </a:solidFill>
                        </a:rPr>
                        <a:t>Member Name</a:t>
                      </a:r>
                      <a:endParaRPr sz="975" b="0" i="0" u="none" dirty="0">
                        <a:solidFill>
                          <a:srgbClr val="38BDF8"/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06"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1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u="none" dirty="0">
                          <a:solidFill>
                            <a:srgbClr val="E2E8F0"/>
                          </a:solidFill>
                        </a:rPr>
                        <a:t>2620030506</a:t>
                      </a:r>
                      <a:endParaRPr sz="975" b="0" i="0" u="none" dirty="0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u="none">
                          <a:solidFill>
                            <a:srgbClr val="E2E8F0"/>
                          </a:solidFill>
                        </a:rPr>
                        <a:t>Sabeer</a:t>
                      </a:r>
                      <a:endParaRPr sz="975" b="1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06"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2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2620030518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u="none">
                          <a:solidFill>
                            <a:srgbClr val="E2E8F0"/>
                          </a:solidFill>
                        </a:rPr>
                        <a:t>Sushma</a:t>
                      </a:r>
                      <a:endParaRPr sz="975" b="1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06"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3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2620030525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u="none">
                          <a:solidFill>
                            <a:srgbClr val="E2E8F0"/>
                          </a:solidFill>
                        </a:rPr>
                        <a:t>Kaushik</a:t>
                      </a:r>
                      <a:endParaRPr sz="975" b="1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06"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4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2620030526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u="none" dirty="0">
                          <a:solidFill>
                            <a:srgbClr val="E2E8F0"/>
                          </a:solidFill>
                        </a:rPr>
                        <a:t>Lochan</a:t>
                      </a:r>
                      <a:endParaRPr sz="975" b="1" i="0" u="none" dirty="0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09"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5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u="none">
                          <a:solidFill>
                            <a:srgbClr val="E2E8F0"/>
                          </a:solidFill>
                        </a:rPr>
                        <a:t>2620030532</a:t>
                      </a:r>
                      <a:endParaRPr sz="975" b="0" i="0" u="none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u="none" dirty="0">
                          <a:solidFill>
                            <a:srgbClr val="E2E8F0"/>
                          </a:solidFill>
                        </a:rPr>
                        <a:t>Bhavya</a:t>
                      </a:r>
                      <a:endParaRPr sz="975" b="1" i="0" u="none" dirty="0">
                        <a:solidFill>
                          <a:srgbClr val="E2E8F0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24" y="1506151"/>
            <a:ext cx="1809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3207543"/>
            <a:ext cx="190500" cy="152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847975" y="3826668"/>
            <a:ext cx="1261913" cy="95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09888" y="3826668"/>
            <a:ext cx="2710011" cy="95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9900" y="3826668"/>
            <a:ext cx="2524125" cy="95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7975" y="4117181"/>
            <a:ext cx="12619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09888" y="4117181"/>
            <a:ext cx="271001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9900" y="4117181"/>
            <a:ext cx="2524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47975" y="4407693"/>
            <a:ext cx="12619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09888" y="4407693"/>
            <a:ext cx="271001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19900" y="4407693"/>
            <a:ext cx="2524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47975" y="4698206"/>
            <a:ext cx="12619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09888" y="4698206"/>
            <a:ext cx="271001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19900" y="4698206"/>
            <a:ext cx="2524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47975" y="4988718"/>
            <a:ext cx="12619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09888" y="4988718"/>
            <a:ext cx="271001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19900" y="4988718"/>
            <a:ext cx="2524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47975" y="5279231"/>
            <a:ext cx="12619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09888" y="5279231"/>
            <a:ext cx="271001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19900" y="5279231"/>
            <a:ext cx="25241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52675"/>
            <a:ext cx="3517850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37000" y="2352675"/>
            <a:ext cx="3517850" cy="2914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975" y="2352675"/>
            <a:ext cx="3517850" cy="2914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628900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276600"/>
            <a:ext cx="3193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System Control (E)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57600"/>
            <a:ext cx="3041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Master Enable switch controlled via keypad or toggle interface.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5125" y="2628900"/>
            <a:ext cx="476250" cy="476250"/>
          </a:xfrm>
          <a:prstGeom prst="rect">
            <a:avLst/>
          </a:prstGeom>
          <a:solidFill>
            <a:srgbClr val="022C22"/>
          </a:solidFill>
        </p:spPr>
      </p:pic>
      <p:sp>
        <p:nvSpPr>
          <p:cNvPr id="10" name="TextBox 9"/>
          <p:cNvSpPr txBox="1"/>
          <p:nvPr/>
        </p:nvSpPr>
        <p:spPr>
          <a:xfrm>
            <a:off x="4575125" y="3276600"/>
            <a:ext cx="3193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Sensor Inputs (D, M, 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3657600"/>
            <a:ext cx="3041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Digital binary sensors positioned around the house perimeter.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2628900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1100" y="3276600"/>
            <a:ext cx="3193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System Outputs (A, 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657600"/>
            <a:ext cx="3041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Actuators and indicator alerts triggered during intrusion.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212" y="2762250"/>
            <a:ext cx="23812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600" y="4162425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E = 0: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System Disarmed (Alarm Disabled)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438650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E = 1: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System Armed (Monitoring Active)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6575" y="4162425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Door Sensor (D):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1 when door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6575" y="4438650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Motion Sensor (M):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1 on motion 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6575" y="4714875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Glass Break (G):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1 on window shatter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8738" y="2762250"/>
            <a:ext cx="180975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02550" y="4162425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Main Alarm Siren (A):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Loud acoustic siren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2550" y="4438650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Status Indicator (S):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Visual alert 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4143375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419600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125" y="4143375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5125" y="4419600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5125" y="4695825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1100" y="4143375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1100" y="4419600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System Overview &amp; Sensor Inputs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134" y="614362"/>
            <a:ext cx="95250" cy="266700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70BEFD0-8651-5C03-832E-A5712B5AD5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 flipV="1">
            <a:off x="4660419" y="2722259"/>
            <a:ext cx="305662" cy="274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66887"/>
            <a:ext cx="11029950" cy="40862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1776412"/>
          <a:ext cx="11010898" cy="4067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9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6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396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Enable (E)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Door (D)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Motion 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Glass (G)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Alarm Output (A)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8BDF8"/>
                          </a:solidFill>
                          <a:latin typeface="Fira Code"/>
                        </a:rPr>
                        <a:t>Security System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86EFAC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Disarmed / Safe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86EFAC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Disarmed (Sensors Ignored)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86EFAC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Armed — All Clear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CA5A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ALARM TRIGGERED (Glass)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CA5A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ALARM TRIGGERED (Door)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CA5A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ALARM TRIGGERED (Motion)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403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CA5A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CBD5E1"/>
                          </a:solidFill>
                          <a:latin typeface="Fira Code"/>
                        </a:rPr>
                        <a:t>ALARM TRIGGERED (Perimeter)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247900"/>
            <a:ext cx="145539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45940" y="2247900"/>
            <a:ext cx="1230659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76600" y="2247900"/>
            <a:ext cx="145539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31990" y="2247900"/>
            <a:ext cx="134302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75015" y="2247900"/>
            <a:ext cx="2129879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04894" y="2247900"/>
            <a:ext cx="339655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2771775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45940" y="2771775"/>
            <a:ext cx="12306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76600" y="2771775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31990" y="2771775"/>
            <a:ext cx="13430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75015" y="2771775"/>
            <a:ext cx="2129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04894" y="2771775"/>
            <a:ext cx="33965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3281362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5940" y="3281362"/>
            <a:ext cx="12306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76600" y="3281362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31990" y="3281362"/>
            <a:ext cx="13430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75015" y="3281362"/>
            <a:ext cx="2129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04894" y="3281362"/>
            <a:ext cx="33965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0550" y="3790950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45940" y="3790950"/>
            <a:ext cx="12306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76600" y="3790950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31990" y="3790950"/>
            <a:ext cx="13430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75015" y="3790950"/>
            <a:ext cx="2129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04894" y="3790950"/>
            <a:ext cx="33965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0550" y="4300537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045940" y="4300537"/>
            <a:ext cx="12306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76600" y="4300537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31990" y="4300537"/>
            <a:ext cx="13430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75015" y="4300537"/>
            <a:ext cx="2129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04894" y="4300537"/>
            <a:ext cx="33965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0550" y="4810125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045940" y="4810125"/>
            <a:ext cx="12306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76600" y="4810125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31990" y="4810125"/>
            <a:ext cx="13430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75015" y="4810125"/>
            <a:ext cx="2129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04894" y="4810125"/>
            <a:ext cx="33965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0550" y="5319712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045940" y="5319712"/>
            <a:ext cx="12306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76600" y="5319712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31990" y="5319712"/>
            <a:ext cx="13430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075015" y="5319712"/>
            <a:ext cx="2129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04894" y="5319712"/>
            <a:ext cx="33965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0550" y="5829300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045940" y="5829300"/>
            <a:ext cx="12306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76600" y="5829300"/>
            <a:ext cx="14553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731990" y="5829300"/>
            <a:ext cx="13430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75015" y="5829300"/>
            <a:ext cx="2129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04894" y="5829300"/>
            <a:ext cx="33965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984" y="2381250"/>
            <a:ext cx="1476375" cy="29051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3497" y="2890837"/>
            <a:ext cx="2419350" cy="29051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3400425"/>
            <a:ext cx="1647825" cy="29051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2084" y="3910012"/>
            <a:ext cx="2162175" cy="29051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4947" y="4419600"/>
            <a:ext cx="2076450" cy="290512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9222" y="4929187"/>
            <a:ext cx="2247900" cy="290512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0634" y="5438775"/>
            <a:ext cx="2505075" cy="29051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Combinational Logic Truth Table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6134" y="614362"/>
            <a:ext cx="95250" cy="266700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07406"/>
            <a:ext cx="5372100" cy="3405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07406"/>
            <a:ext cx="5372100" cy="3405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59956"/>
            <a:ext cx="481965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560093"/>
            <a:ext cx="481965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2383631"/>
            <a:ext cx="506063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oppins"/>
              </a:rPr>
              <a:t>Primary Alarm Function 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831306"/>
            <a:ext cx="48196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Inter"/>
              </a:rPr>
              <a:t>The alarm triggers if the system is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Armed (E=1)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AND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at least one sensor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is 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174331"/>
            <a:ext cx="48196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Inter"/>
              </a:rPr>
              <a:t>Expanded Sum of Products (SOP) Form: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383631"/>
            <a:ext cx="506063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38BDF8"/>
                </a:solidFill>
                <a:latin typeface="Poppins"/>
              </a:rPr>
              <a:t>Design Highlights </a:t>
            </a:r>
            <a:endParaRPr lang="en-IN" sz="1650" b="1" dirty="0">
              <a:solidFill>
                <a:srgbClr val="38BDF8"/>
              </a:solidFill>
              <a:latin typeface="Poppi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7548" y="3679031"/>
            <a:ext cx="150748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7621" y="4779168"/>
            <a:ext cx="1767482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81800" y="2831306"/>
            <a:ext cx="4552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Pure Combinational Circuit: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Output depends solely on current sensor inputs.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440906"/>
            <a:ext cx="4552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Instant Response: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Instantaneous switching with zero software processing lag.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4050506"/>
            <a:ext cx="4552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Simple Gates: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Realized using standard basic OR and AND gates only.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859881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3469481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4079081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539963"/>
            <a:ext cx="11581447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F8FAFC"/>
                </a:solidFill>
                <a:latin typeface="Poppins"/>
              </a:rPr>
              <a:t>Boolean Simplification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523" y="614362"/>
            <a:ext cx="95250" cy="266700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28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0025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2000250"/>
            <a:ext cx="5105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Step 1 (3-Input OR Gate):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Combines Door ( ), Motion ( ), and Glass ( ) inputs. If any sensor is HIGH (1), the OR gate output becomes HIGH. 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Signal: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067050"/>
            <a:ext cx="510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Step 2 (2-Input AND Gate):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Takes the OR gate output and multiplies it with Master Enable ( ). 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Signal: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905250"/>
            <a:ext cx="5105400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Inter"/>
              </a:rPr>
              <a:t>No Clock Pulse Needed: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As 1st-year DDCA students, we designed this as a pure </a:t>
            </a:r>
            <a:r>
              <a:rPr sz="1200" b="0" i="1" u="none" dirty="0">
                <a:solidFill>
                  <a:srgbClr val="38BDF8"/>
                </a:solidFill>
                <a:latin typeface="Inter"/>
              </a:rPr>
              <a:t>asynchronous combinational logic circuit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— no clock pulses, memory elements</a:t>
            </a:r>
            <a:r>
              <a:rPr lang="en-IN" sz="1200" dirty="0">
                <a:solidFill>
                  <a:srgbClr val="CBD5E1"/>
                </a:solidFill>
                <a:latin typeface="Inter"/>
              </a:rPr>
              <a:t>.</a:t>
            </a:r>
            <a:r>
              <a:rPr dirty="0"/>
              <a:t>
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81651" y="2000250"/>
            <a:ext cx="5429324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075" y="2066925"/>
            <a:ext cx="110132" cy="104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307" y="2066925"/>
            <a:ext cx="135582" cy="1047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295525"/>
            <a:ext cx="110132" cy="1047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2200" y="3362325"/>
            <a:ext cx="93166" cy="1047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457700"/>
            <a:ext cx="1866900" cy="26193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202882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4925" y="2762250"/>
            <a:ext cx="609748" cy="95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" y="309562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4925" y="3600450"/>
            <a:ext cx="1055191" cy="95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" y="3933825"/>
            <a:ext cx="1333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Basic Gate Circuit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203" y="614362"/>
            <a:ext cx="95250" cy="266700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90787"/>
            <a:ext cx="3517850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490787"/>
            <a:ext cx="3517850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490787"/>
            <a:ext cx="3517850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67012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414712"/>
            <a:ext cx="3193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Software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95712"/>
            <a:ext cx="3041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Verified using Logisim / Multisim simulator across all input combinations.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125" y="2767012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5125" y="3414712"/>
            <a:ext cx="3193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Timing &amp;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3795712"/>
            <a:ext cx="3041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Real-time response suited for immediate intruder alert.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100" y="2767012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1100" y="3414712"/>
            <a:ext cx="31936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Hardware ICs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795712"/>
            <a:ext cx="3041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Minimal basic gate hardware chips for simple lab setup.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" y="2900362"/>
            <a:ext cx="23812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600" y="4300537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100% agreement with truth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576762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Glitch-free signal transitions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8475" y="2900362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46575" y="4300537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Propagation delay: ~18ns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6575" y="4576762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Immediate physical output trigger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0163" y="2900362"/>
            <a:ext cx="238125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02550" y="4300537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1x 74LS32 (Quad OR 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2550" y="4576762"/>
            <a:ext cx="2870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1x 74LS08 (Quad AND 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4281487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557712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125" y="4281487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5125" y="4557712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1100" y="4281487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1100" y="4557712"/>
            <a:ext cx="85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Simulation &amp; Performance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3484" y="609600"/>
            <a:ext cx="95250" cy="266700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3748087"/>
            <a:ext cx="8115300" cy="800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2309812"/>
            <a:ext cx="11581447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8FAFC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176587"/>
            <a:ext cx="11029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Smart Home Security System — DDCA Course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541</Words>
  <Application>Microsoft Office PowerPoint</Application>
  <PresentationFormat>Widescreen</PresentationFormat>
  <Paragraphs>125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Fira Code</vt:lpstr>
      <vt:lpstr>Inter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sabeerkhan0309@outlook.com</cp:lastModifiedBy>
  <cp:revision>5</cp:revision>
  <dcterms:created xsi:type="dcterms:W3CDTF">2013-01-27T09:14:16Z</dcterms:created>
  <dcterms:modified xsi:type="dcterms:W3CDTF">2026-09-10T14:50:38Z</dcterms:modified>
  <cp:category/>
</cp:coreProperties>
</file>